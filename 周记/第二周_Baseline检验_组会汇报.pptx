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
  </p:notesMasterIdLst>
  <p:sldIdLst>
    <p:sldId id="256" r:id="rId3"/>
    <p:sldId id="257" r:id="rId5"/>
    <p:sldId id="258" r:id="rId6"/>
    <p:sldId id="259" r:id="rId7"/>
    <p:sldId id="260" r:id="rId8"/>
    <p:sldId id="262" r:id="rId9"/>
    <p:sldId id="271" r:id="rId10"/>
    <p:sldId id="264" r:id="rId11"/>
    <p:sldId id="265" r:id="rId12"/>
    <p:sldId id="266" r:id="rId13"/>
    <p:sldId id="270" r:id="rId14"/>
  </p:sldIdLst>
  <p:sldSz cx="12192000" cy="6858000"/>
  <p:notesSz cx="68580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 Type="http://schemas.openxmlformats.org/officeDocument/2006/relationships/slide" Target="slides/slide1.xml"/><Relationship Id="rId2" Type="http://schemas.openxmlformats.org/officeDocument/2006/relationships/theme" Target="theme/theme1.xml"/><Relationship Id="rId17" Type="http://schemas.openxmlformats.org/officeDocument/2006/relationships/tableStyles" Target="tableStyles.xml"/><Relationship Id="rId16" Type="http://schemas.openxmlformats.org/officeDocument/2006/relationships/viewProps" Target="viewProps.xml"/><Relationship Id="rId15" Type="http://schemas.openxmlformats.org/officeDocument/2006/relationships/presProps" Target="presProps.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p:sp>
        <p:nvSpPr>
          <p:cNvPr id="2" name="Header Placeholder"/>
          <p:cNvSpPr/>
          <p:nvPr>
            <p:ph type="hdr" sz="quarter"/>
          </p:nvPr>
        </p:nvSpPr>
        <p:spPr>
          <a:prstGeom prst="rect">
            <a:avLst/>
          </a:prstGeom>
        </p:spPr>
        <p:txBody>
          <a:bodyPr/>
          <a:lstStyle/>
          <a:p/>
        </p:txBody>
      </p:sp>
      <p:sp>
        <p:nvSpPr>
          <p:cNvPr id="3" name="Date Placeholder"/>
          <p:cNvSpPr/>
          <p:nvPr>
            <p:ph type="dt" sz="quarter" idx="1"/>
          </p:nvPr>
        </p:nvSpPr>
        <p:spPr>
          <a:prstGeom prst="rect">
            <a:avLst/>
          </a:prstGeom>
        </p:spPr>
        <p:txBody>
          <a:bodyPr/>
          <a:lstStyle/>
          <a:p/>
        </p:txBody>
      </p:sp>
      <p:sp>
        <p:nvSpPr>
          <p:cNvPr id="4" name="Slide Image Placeholder"/>
          <p:cNvSpPr/>
          <p:nvPr>
            <p:ph type="sldImg" idx="2"/>
          </p:nvPr>
        </p:nvSpPr>
        <p:spPr>
          <a:prstGeom prst="rect">
            <a:avLst/>
          </a:prstGeom>
        </p:spPr>
        <p:txBody>
          <a:bodyPr/>
          <a:lstStyle/>
          <a:p/>
        </p:txBody>
      </p:sp>
      <p:sp>
        <p:nvSpPr>
          <p:cNvPr id="5" name="Notes Placeholder"/>
          <p:cNvSpPr/>
          <p:nvPr>
            <p:ph type="body" sz="quarter" idx="3"/>
          </p:nvPr>
        </p:nvSpPr>
        <p:spPr>
          <a:prstGeom prst="rect">
            <a:avLst/>
          </a:prstGeom>
        </p:spPr>
        <p:txBody>
          <a:bodyPr/>
          <a:lstStyle/>
          <a:p/>
        </p:txBody>
      </p:sp>
      <p:sp>
        <p:nvSpPr>
          <p:cNvPr id="6" name="Footer Placeholder"/>
          <p:cNvSpPr/>
          <p:nvPr>
            <p:ph type="ftr" sz="quarter" idx="4"/>
          </p:nvPr>
        </p:nvSpPr>
        <p:spPr>
          <a:prstGeom prst="rect">
            <a:avLst/>
          </a:prstGeom>
        </p:spPr>
        <p:txBody>
          <a:bodyPr/>
          <a:lstStyle/>
          <a:p/>
        </p:txBody>
      </p:sp>
      <p:sp>
        <p:nvSpPr>
          <p:cNvPr id="7" name="Slide Number Placeholder"/>
          <p:cNvSpPr/>
          <p:nvPr>
            <p:ph type="sldNum" sz="quarter" idx="5"/>
          </p:nvPr>
        </p:nvSpPr>
        <p:spPr>
          <a:prstGeom prst="rect">
            <a:avLst/>
          </a:prstGeom>
        </p:spPr>
        <p:txBody>
          <a:bodyPr/>
          <a:lstStyle/>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本周沿着三个baseline展开，明确评价条件、区分算法与后处理贡献，并识别目标函数与应用需求的差距。来源：D:/film_design/第二周：baseline的检验.docx。</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来源：D:/film_design/第二周：baseline的检验.docx。</a:t>
            </a:r>
          </a:p>
          <a:p>
            <a:r>
              <a:t>开场先给结论。DUV固定常数版本之间不可混作同条件算法对比。宽带吸收的提升由联合搜索完成。灯泡任务的反射率目标与高透射应用存在偏差。</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来源：D:/film_design/第二周：baseline的检验.docx。</a:t>
            </a:r>
          </a:p>
          <a:p>
            <a:r>
              <a:t>评价需固定材料nk、基底、角度、偏振、波长网格、层数厚度约束及预算。本文数值按各自实验口径呈现，不合并为统一排行榜。</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来源：D:/film_design/第二周：baseline的检验.docx。</a:t>
            </a:r>
          </a:p>
          <a:p>
            <a:r>
              <a:t>共同条件：193 nm、空气入射、CaF2基底、0–45°共10角度。AlF3和GdF3使用各阶段配置值。D1和D2分别为2层和5层。文档所述论文最好值为99.75%，不能仅据此宣称公平超越。</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来源：D:/film_design/第二周：baseline的检验.docx。</a:t>
            </a:r>
          </a:p>
          <a:p>
            <a:r>
              <a:t>掩码分支预设20个槽位，随机选择空位由HPPO同时填入材料和厚度。TMM跳过MASK，EOS仅保留最左EOS之前的膜系。D3使用该分支五材料数据和约束，不能直接与D1/D2作同条件比较。</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来源：D:/film_design/第二周：baseline的检验.docx。</a:t>
            </a:r>
          </a:p>
          <a:p>
            <a:r>
              <a:t>当前基底统一复核后，D4为93.1043%；D5为98.9035%，14层，总厚度600nm。提升为5.7992个百分点。联合搜索包含结构插入、删除、替换，以及TMM自动微分与SLSQP厚度优化。此图不是纯HPPO训练曲线。</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来源：D:/film_design/第二周：baseline的检验.docx。</a:t>
            </a:r>
          </a:p>
          <a:p>
            <a:r>
              <a:t>任务为300–3000nm，可见波段低反射，其他波段高反射。论文表3参考42层、总厚度8.54μm。以作者仓库对应材料数据在当前TMM下重算。SiN与仓库Si3N4映射保留说明。10nm采样为项目选择。敏感性曲线仅作诊断。</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来源：D:/film_design/第二周：baseline的检验.docx。</a:t>
            </a:r>
          </a:p>
          <a:p>
            <a:r>
              <a:t>此页为早期T目标阶段，与后续R目标GAE实验分开呈现。诊断共12次，涉及epoch、seed、熵、红外权重、最小层数和学习率。统一1:4:3复核评分下，早期纯HPPO最好约0.62676。D7含联合搜索，不能归入纯HPPO收益。</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来源：D:/film_design/第二周：baseline的检验.docx。</a:t>
            </a:r>
          </a:p>
          <a:p>
            <a:r>
              <a:t>本阶段使用可见R=0、波段权重1:4:3，7材料、单层15–400nm、80层上限。先比较lambda 0.95与1.0，各seed0和seed1。随后从较好的lambda1检查点继续。训练用18分箱中心角度，保存候选按90角度复核，并做2nm网格。表为预算而非实际步数。</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来源：D:/film_design/第二周：baseline的检验.docx。</a:t>
            </a:r>
          </a:p>
          <a:p>
            <a:r>
              <a:t>本页为根据文档研究问题整理的下一步建议，并非已完成实验。保持HPPO主体框架，通过配置表达不同任务。先统一应用指标，再在相同材料、边界和预算下多seed比较。</a:t>
            </a:r>
          </a:p>
        </p:txBody>
      </p:sp>
      <p:sp>
        <p:nvSpPr>
          <p:cNvPr id="4" name="Slide Number Placeholder 3"/>
          <p:cNvSpPr>
            <a:spLocks noGrp="1"/>
          </p:cNvSpPr>
          <p:nvPr>
            <p:ph type="sldNum" idx="5"/>
          </p:nvPr>
        </p:nvSpPr>
        <p:spPr/>
        <p:txBody>
          <a:bodyPr/>
          <a:lstStyle/>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p:sp>
        <p:nvSpPr>
          <p:cNvPr id="3" name="Title"/>
          <p:cNvSpPr>
            <a:spLocks noGrp="1"/>
          </p:cNvSpPr>
          <p:nvPr>
            <p:ph type="title"/>
          </p:nvPr>
        </p:nvSpPr>
        <p:spPr>
          <a:xfrm>
            <a:off x="1219200" y="2590800"/>
            <a:ext cx="9753600" cy="990600"/>
          </a:xfrm>
          <a:prstGeom prst="rect">
            <a:avLst/>
          </a:prstGeom>
          <a:noFill/>
          <a:ln>
            <a:noFill/>
            <a:prstDash val="solid"/>
          </a:ln>
        </p:spPr>
        <p:txBody>
          <a:bodyPr wrap="square" lIns="0" tIns="0" rIns="0" bIns="0" anchor="ctr">
            <a:normAutofit/>
          </a:bodyPr>
          <a:lstStyle>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p:txBody>
      </p:sp>
      <p:sp>
        <p:nvSpPr>
          <p:cNvPr id="2" name="Subtitle"/>
          <p:cNvSpPr>
            <a:spLocks noGrp="1"/>
          </p:cNvSpPr>
          <p:nvPr>
            <p:ph type="subTitle" idx="1"/>
          </p:nvPr>
        </p:nvSpPr>
        <p:spPr>
          <a:xfrm>
            <a:off x="1828800" y="3771900"/>
            <a:ext cx="8534400" cy="762000"/>
          </a:xfrm>
          <a:prstGeom prst="rect">
            <a:avLst/>
          </a:prstGeom>
          <a:noFill/>
          <a:ln>
            <a:noFill/>
            <a:prstDash val="solid"/>
          </a:ln>
        </p:spPr>
        <p:txBody>
          <a:bodyPr wrap="square" lIns="0" tIns="0" rIns="0" bIns="0" anchor="ctr">
            <a:normAutofit/>
          </a:bodyPr>
          <a:lstStyle>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cSld name="Section Header">
    <p:spTree>
      <p:nvGrpSpPr>
        <p:cNvPr id="1" name=""/>
        <p:cNvGrpSpPr/>
        <p:nvPr/>
      </p:nvGrpSpPr>
      <p:grpSpPr/>
      <p:sp>
        <p:nvSpPr>
          <p:cNvPr id="2" name="Section title"/>
          <p:cNvSpPr>
            <a:spLocks noGrp="1"/>
          </p:cNvSpPr>
          <p:nvPr>
            <p:ph type="title"/>
          </p:nvPr>
        </p:nvSpPr>
        <p:spPr>
          <a:xfrm>
            <a:off x="1219200" y="2857500"/>
            <a:ext cx="9753600" cy="1143000"/>
          </a:xfrm>
          <a:prstGeom prst="rect">
            <a:avLst/>
          </a:prstGeom>
          <a:noFill/>
          <a:ln>
            <a:noFill/>
            <a:prstDash val="solid"/>
          </a:ln>
        </p:spPr>
        <p:txBody>
          <a:bodyPr wrap="square" lIns="0" tIns="0" rIns="0" bIns="0" anchor="ctr">
            <a:normAutofit/>
          </a:bodyPr>
          <a:lstStyle>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cSld name="Title and Body">
    <p:spTree>
      <p:nvGrpSpPr>
        <p:cNvPr id="1" name=""/>
        <p:cNvGrpSpPr/>
        <p:nvPr/>
      </p:nvGrpSpPr>
      <p:grpSpPr/>
      <p:sp>
        <p:nvSpPr>
          <p:cNvPr id="3" name="Title"/>
          <p:cNvSpPr>
            <a:spLocks noGrp="1"/>
          </p:cNvSpPr>
          <p:nvPr>
            <p:ph type="title"/>
          </p:nvPr>
        </p:nvSpPr>
        <p:spPr>
          <a:xfrm>
            <a:off x="685800" y="533400"/>
            <a:ext cx="10820400" cy="838200"/>
          </a:xfrm>
          <a:prstGeom prst="rect">
            <a:avLst/>
          </a:prstGeom>
          <a:noFill/>
          <a:ln>
            <a:noFill/>
            <a:prstDash val="solid"/>
          </a:ln>
        </p:spPr>
        <p:txBody>
          <a:bodyPr wrap="square" lIns="0" tIns="0" rIns="0" bIns="0" anchor="t">
            <a:normAutofit/>
          </a:bodyPr>
          <a:lstStyle>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p:txBody>
      </p:sp>
      <p:sp>
        <p:nvSpPr>
          <p:cNvPr id="2" name="Body"/>
          <p:cNvSpPr>
            <a:spLocks noGrp="1"/>
          </p:cNvSpPr>
          <p:nvPr>
            <p:ph type="body" idx="1"/>
          </p:nvPr>
        </p:nvSpPr>
        <p:spPr>
          <a:xfrm>
            <a:off x="685800" y="1905000"/>
            <a:ext cx="10820400" cy="4267200"/>
          </a:xfrm>
          <a:prstGeom prst="rect">
            <a:avLst/>
          </a:prstGeom>
          <a:noFill/>
          <a:ln>
            <a:noFill/>
            <a:prstDash val="solid"/>
          </a:ln>
        </p:spPr>
        <p:txBody>
          <a:bodyPr wrap="square" lIns="0" tIns="0" rIns="0" bIns="0" anchor="t">
            <a:normAutofit/>
          </a:bodyPr>
          <a:lstStyle>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cSld name="Title and Two Column">
    <p:spTree>
      <p:nvGrpSpPr>
        <p:cNvPr id="1" name=""/>
        <p:cNvGrpSpPr/>
        <p:nvPr/>
      </p:nvGrpSpPr>
      <p:grpSpPr/>
      <p:sp>
        <p:nvSpPr>
          <p:cNvPr id="4" name="Title"/>
          <p:cNvSpPr>
            <a:spLocks noGrp="1"/>
          </p:cNvSpPr>
          <p:nvPr>
            <p:ph type="title"/>
          </p:nvPr>
        </p:nvSpPr>
        <p:spPr>
          <a:xfrm>
            <a:off x="685800" y="533400"/>
            <a:ext cx="10820400" cy="838200"/>
          </a:xfrm>
          <a:prstGeom prst="rect">
            <a:avLst/>
          </a:prstGeom>
          <a:noFill/>
          <a:ln>
            <a:noFill/>
            <a:prstDash val="solid"/>
          </a:ln>
        </p:spPr>
        <p:txBody>
          <a:bodyPr wrap="square" lIns="0" tIns="0" rIns="0" bIns="0" anchor="t">
            <a:normAutofit/>
          </a:bodyPr>
          <a:lstStyle>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p:txBody>
      </p:sp>
      <p:sp>
        <p:nvSpPr>
          <p:cNvPr id="2" name="Left column"/>
          <p:cNvSpPr>
            <a:spLocks noGrp="1"/>
          </p:cNvSpPr>
          <p:nvPr>
            <p:ph type="body" idx="1"/>
          </p:nvPr>
        </p:nvSpPr>
        <p:spPr>
          <a:xfrm>
            <a:off x="685800" y="1905000"/>
            <a:ext cx="5029200" cy="4267200"/>
          </a:xfrm>
          <a:prstGeom prst="rect">
            <a:avLst/>
          </a:prstGeom>
          <a:noFill/>
          <a:ln>
            <a:noFill/>
            <a:prstDash val="solid"/>
          </a:ln>
        </p:spPr>
        <p:txBody>
          <a:bodyPr wrap="square" lIns="0" tIns="0" rIns="0" bIns="0" anchor="t">
            <a:normAutofit/>
          </a:bodyPr>
          <a:lstStyle>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p:txBody>
      </p:sp>
      <p:sp>
        <p:nvSpPr>
          <p:cNvPr id="3" name="Right column"/>
          <p:cNvSpPr>
            <a:spLocks noGrp="1"/>
          </p:cNvSpPr>
          <p:nvPr>
            <p:ph type="body" idx="2"/>
          </p:nvPr>
        </p:nvSpPr>
        <p:spPr>
          <a:xfrm>
            <a:off x="6477000" y="1905000"/>
            <a:ext cx="5029200" cy="4267200"/>
          </a:xfrm>
          <a:prstGeom prst="rect">
            <a:avLst/>
          </a:prstGeom>
          <a:noFill/>
          <a:ln>
            <a:noFill/>
            <a:prstDash val="solid"/>
          </a:ln>
        </p:spPr>
        <p:txBody>
          <a:bodyPr wrap="square" lIns="0" tIns="0" rIns="0" bIns="0" anchor="t">
            <a:normAutofit/>
          </a:bodyPr>
          <a:lstStyle>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cSld name="Title and One Column">
    <p:spTree>
      <p:nvGrpSpPr>
        <p:cNvPr id="1" name=""/>
        <p:cNvGrpSpPr/>
        <p:nvPr/>
      </p:nvGrpSpPr>
      <p:grpSpPr/>
      <p:sp>
        <p:nvSpPr>
          <p:cNvPr id="3" name="Title"/>
          <p:cNvSpPr>
            <a:spLocks noGrp="1"/>
          </p:cNvSpPr>
          <p:nvPr>
            <p:ph type="title"/>
          </p:nvPr>
        </p:nvSpPr>
        <p:spPr>
          <a:xfrm>
            <a:off x="685800" y="533400"/>
            <a:ext cx="10820400" cy="838200"/>
          </a:xfrm>
          <a:prstGeom prst="rect">
            <a:avLst/>
          </a:prstGeom>
          <a:noFill/>
          <a:ln>
            <a:noFill/>
            <a:prstDash val="solid"/>
          </a:ln>
        </p:spPr>
        <p:txBody>
          <a:bodyPr wrap="square" lIns="0" tIns="0" rIns="0" bIns="0" anchor="t">
            <a:normAutofit/>
          </a:bodyPr>
          <a:lstStyle>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p:txBody>
      </p:sp>
      <p:sp>
        <p:nvSpPr>
          <p:cNvPr id="2" name="Left column"/>
          <p:cNvSpPr>
            <a:spLocks noGrp="1"/>
          </p:cNvSpPr>
          <p:nvPr>
            <p:ph type="body" idx="1"/>
          </p:nvPr>
        </p:nvSpPr>
        <p:spPr>
          <a:xfrm>
            <a:off x="685800" y="1905000"/>
            <a:ext cx="5029200" cy="4267200"/>
          </a:xfrm>
          <a:prstGeom prst="rect">
            <a:avLst/>
          </a:prstGeom>
          <a:noFill/>
          <a:ln>
            <a:noFill/>
            <a:prstDash val="solid"/>
          </a:ln>
        </p:spPr>
        <p:txBody>
          <a:bodyPr wrap="square" lIns="0" tIns="0" rIns="0" bIns="0" anchor="t">
            <a:normAutofit/>
          </a:bodyPr>
          <a:lstStyle>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p:spTree>
  </p:cSld>
  <p:clrMapOvr>
    <a:masterClrMapping/>
  </p:clrMapOvr>
</p:sldLayout>
</file>

<file path=ppt/slideMasters/_rels/slideMaster1.xml.rels><?xml version="1.0" encoding="UTF-8" standalone="yes"?>
<Relationships xmlns="http://schemas.openxmlformats.org/package/2006/relationships"><Relationship Id="rId7" Type="http://schemas.openxmlformats.org/officeDocument/2006/relationships/theme" Target="../theme/theme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Lst>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Id6" Type="http://schemas.openxmlformats.org/officeDocument/2006/relationships/notesSlide" Target="../notesSlides/notesSlide2.xml"/><Relationship Id="rId5" Type="http://schemas.openxmlformats.org/officeDocument/2006/relationships/slideLayout" Target="../slideLayouts/slideLayout6.xml"/><Relationship Id="rId4" Type="http://schemas.openxmlformats.org/officeDocument/2006/relationships/tags" Target="../tags/tag4.xml"/><Relationship Id="rId3" Type="http://schemas.openxmlformats.org/officeDocument/2006/relationships/tags" Target="../tags/tag3.xml"/><Relationship Id="rId2" Type="http://schemas.openxmlformats.org/officeDocument/2006/relationships/tags" Target="../tags/tag2.xml"/><Relationship Id="rId1" Type="http://schemas.openxmlformats.org/officeDocument/2006/relationships/tags" Target="../tags/tag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6.xml"/><Relationship Id="rId1" Type="http://schemas.openxmlformats.org/officeDocument/2006/relationships/image" Target="../media/image1.png"/></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6.xml"/><Relationship Id="rId1" Type="http://schemas.openxmlformats.org/officeDocument/2006/relationships/image" Target="../media/image2.png"/></Relationships>
</file>

<file path=ppt/slides/_rels/slide6.xml.rels><?xml version="1.0" encoding="UTF-8" standalone="yes"?>
<Relationships xmlns="http://schemas.openxmlformats.org/package/2006/relationships"><Relationship Id="rId5" Type="http://schemas.openxmlformats.org/officeDocument/2006/relationships/notesSlide" Target="../notesSlides/notesSlide6.xml"/><Relationship Id="rId4" Type="http://schemas.openxmlformats.org/officeDocument/2006/relationships/slideLayout" Target="../slideLayouts/slideLayout6.xml"/><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image" Target="../media/image3.png"/></Relationships>
</file>

<file path=ppt/slides/_rels/slide7.xml.rels><?xml version="1.0" encoding="UTF-8" standalone="yes"?>
<Relationships xmlns="http://schemas.openxmlformats.org/package/2006/relationships"><Relationship Id="rId2" Type="http://schemas.openxmlformats.org/officeDocument/2006/relationships/slideLayout" Target="../slideLayouts/slideLayout6.xml"/><Relationship Id="rId1" Type="http://schemas.openxmlformats.org/officeDocument/2006/relationships/image" Target="../media/image6.png"/></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6.xml"/><Relationship Id="rId1" Type="http://schemas.openxmlformats.org/officeDocument/2006/relationships/image" Target="../media/image7.png"/></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6.xml"/><Relationship Id="rId1" Type="http://schemas.openxmlformats.org/officeDocument/2006/relationships/tags" Target="../tags/tag5.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5" Type="http://schemas.openxmlformats.org/officeDocument/2006/relationships/notesSlide" Target="../notesSlides/notesSlide10.xml"/><Relationship Id="rId4" Type="http://schemas.openxmlformats.org/officeDocument/2006/relationships/slideLayout" Target="../slideLayouts/slideLayout6.xml"/><Relationship Id="rId3" Type="http://schemas.openxmlformats.org/officeDocument/2006/relationships/tags" Target="../tags/tag8.xml"/><Relationship Id="rId2" Type="http://schemas.openxmlformats.org/officeDocument/2006/relationships/tags" Target="../tags/tag7.xml"/><Relationship Id="rId1" Type="http://schemas.openxmlformats.org/officeDocument/2006/relationships/tags" Target="../tags/tag6.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102B46"/>
        </a:solidFill>
        <a:effectLst/>
      </p:bgPr>
    </p:bg>
    <p:spTree>
      <p:nvGrpSpPr>
        <p:cNvPr id="1" name=""/>
        <p:cNvGrpSpPr/>
        <p:nvPr/>
      </p:nvGrpSpPr>
      <p:grpSpPr/>
      <p:sp>
        <p:nvSpPr>
          <p:cNvPr id="4" name="矩形 3"/>
          <p:cNvSpPr>
            <a:spLocks noGrp="1"/>
          </p:cNvSpPr>
          <p:nvPr/>
        </p:nvSpPr>
        <p:spPr>
          <a:xfrm>
            <a:off x="723900" y="1619250"/>
            <a:ext cx="10668000" cy="1714500"/>
          </a:xfrm>
          <a:prstGeom prst="rect">
            <a:avLst/>
          </a:prstGeom>
          <a:noFill/>
          <a:ln w="0">
            <a:noFill/>
          </a:ln>
        </p:spPr>
        <p:txBody>
          <a:bodyPr/>
          <a:lstStyle>
            <a:defPPr>
              <a:defRPr sz="4500" b="1">
                <a:solidFill>
                  <a:srgbClr val="FFFFFF"/>
                </a:solidFill>
              </a:defRPr>
            </a:defPPr>
            <a:lvl1pPr>
              <a:defRPr sz="4500" b="1">
                <a:solidFill>
                  <a:srgbClr val="FFFFFF"/>
                </a:solidFill>
              </a:defRPr>
            </a:lvl1pPr>
            <a:lvl2pPr>
              <a:defRPr sz="4500" b="1">
                <a:solidFill>
                  <a:srgbClr val="FFFFFF"/>
                </a:solidFill>
              </a:defRPr>
            </a:lvl2pPr>
            <a:lvl3pPr>
              <a:defRPr sz="4500" b="1">
                <a:solidFill>
                  <a:srgbClr val="FFFFFF"/>
                </a:solidFill>
              </a:defRPr>
            </a:lvl3pPr>
            <a:lvl4pPr>
              <a:defRPr sz="4500" b="1">
                <a:solidFill>
                  <a:srgbClr val="FFFFFF"/>
                </a:solidFill>
              </a:defRPr>
            </a:lvl4pPr>
            <a:lvl5pPr>
              <a:defRPr sz="4500" b="1">
                <a:solidFill>
                  <a:srgbClr val="FFFFFF"/>
                </a:solidFill>
              </a:defRPr>
            </a:lvl5pPr>
            <a:lvl6pPr>
              <a:defRPr sz="4500" b="1">
                <a:solidFill>
                  <a:srgbClr val="FFFFFF"/>
                </a:solidFill>
              </a:defRPr>
            </a:lvl6pPr>
            <a:lvl7pPr>
              <a:defRPr sz="4500" b="1">
                <a:solidFill>
                  <a:srgbClr val="FFFFFF"/>
                </a:solidFill>
              </a:defRPr>
            </a:lvl7pPr>
            <a:lvl8pPr>
              <a:defRPr sz="4500" b="1">
                <a:solidFill>
                  <a:srgbClr val="FFFFFF"/>
                </a:solidFill>
              </a:defRPr>
            </a:lvl8pPr>
            <a:lvl9pPr>
              <a:defRPr sz="4500" b="1">
                <a:solidFill>
                  <a:srgbClr val="FFFFFF"/>
                </a:solidFill>
              </a:defRPr>
            </a:lvl9pPr>
          </a:lstStyle>
          <a:p>
            <a:pPr>
              <a:defRPr sz="4500" b="1">
                <a:solidFill>
                  <a:srgbClr val="FFFFFF"/>
                </a:solidFill>
              </a:defRPr>
            </a:pPr>
            <a:r>
              <a:rPr sz="4500" b="1">
                <a:solidFill>
                  <a:srgbClr val="FFFFFF"/>
                </a:solidFill>
              </a:rPr>
              <a:t>第二周：Baseline 的检验</a:t>
            </a:r>
            <a:endParaRPr sz="4500" b="1">
              <a:solidFill>
                <a:srgbClr val="FFFFFF"/>
              </a:solidFill>
            </a:endParaRPr>
          </a:p>
        </p:txBody>
      </p:sp>
      <p:sp>
        <p:nvSpPr>
          <p:cNvPr id="2" name="矩形 1"/>
          <p:cNvSpPr>
            <a:spLocks noGrp="1"/>
          </p:cNvSpPr>
          <p:nvPr/>
        </p:nvSpPr>
        <p:spPr>
          <a:xfrm>
            <a:off x="762000" y="3667125"/>
            <a:ext cx="10477500" cy="952500"/>
          </a:xfrm>
          <a:prstGeom prst="rect">
            <a:avLst/>
          </a:prstGeom>
          <a:noFill/>
          <a:ln w="0">
            <a:noFill/>
          </a:ln>
        </p:spPr>
        <p:txBody>
          <a:bodyPr/>
          <a:lstStyle>
            <a:defPPr>
              <a:defRPr sz="2400" b="0">
                <a:solidFill>
                  <a:srgbClr val="B8D5E6"/>
                </a:solidFill>
              </a:defRPr>
            </a:defPPr>
            <a:lvl1pPr>
              <a:defRPr sz="2400" b="0">
                <a:solidFill>
                  <a:srgbClr val="B8D5E6"/>
                </a:solidFill>
              </a:defRPr>
            </a:lvl1pPr>
            <a:lvl2pPr>
              <a:defRPr sz="2400" b="0">
                <a:solidFill>
                  <a:srgbClr val="B8D5E6"/>
                </a:solidFill>
              </a:defRPr>
            </a:lvl2pPr>
            <a:lvl3pPr>
              <a:defRPr sz="2400" b="0">
                <a:solidFill>
                  <a:srgbClr val="B8D5E6"/>
                </a:solidFill>
              </a:defRPr>
            </a:lvl3pPr>
            <a:lvl4pPr>
              <a:defRPr sz="2400" b="0">
                <a:solidFill>
                  <a:srgbClr val="B8D5E6"/>
                </a:solidFill>
              </a:defRPr>
            </a:lvl4pPr>
            <a:lvl5pPr>
              <a:defRPr sz="2400" b="0">
                <a:solidFill>
                  <a:srgbClr val="B8D5E6"/>
                </a:solidFill>
              </a:defRPr>
            </a:lvl5pPr>
            <a:lvl6pPr>
              <a:defRPr sz="2400" b="0">
                <a:solidFill>
                  <a:srgbClr val="B8D5E6"/>
                </a:solidFill>
              </a:defRPr>
            </a:lvl6pPr>
            <a:lvl7pPr>
              <a:defRPr sz="2400" b="0">
                <a:solidFill>
                  <a:srgbClr val="B8D5E6"/>
                </a:solidFill>
              </a:defRPr>
            </a:lvl7pPr>
            <a:lvl8pPr>
              <a:defRPr sz="2400" b="0">
                <a:solidFill>
                  <a:srgbClr val="B8D5E6"/>
                </a:solidFill>
              </a:defRPr>
            </a:lvl8pPr>
            <a:lvl9pPr>
              <a:defRPr sz="2400" b="0">
                <a:solidFill>
                  <a:srgbClr val="B8D5E6"/>
                </a:solidFill>
              </a:defRPr>
            </a:lvl9pPr>
          </a:lstStyle>
          <a:p>
            <a:pPr>
              <a:defRPr sz="2400" b="0">
                <a:solidFill>
                  <a:srgbClr val="B8D5E6"/>
                </a:solidFill>
              </a:defRPr>
            </a:pPr>
            <a:r>
              <a:rPr sz="2400" b="0">
                <a:solidFill>
                  <a:srgbClr val="B8D5E6"/>
                </a:solidFill>
              </a:rPr>
              <a:t>薄膜逆向设计中的 HPPO 验证与问题定位</a:t>
            </a:r>
            <a:endParaRPr sz="2400" b="0">
              <a:solidFill>
                <a:srgbClr val="B8D5E6"/>
              </a:solidFill>
            </a:endParaRPr>
          </a:p>
        </p:txBody>
      </p:sp>
      <p:sp>
        <p:nvSpPr>
          <p:cNvPr id="3" name="矩形 2"/>
          <p:cNvSpPr>
            <a:spLocks noGrp="1"/>
          </p:cNvSpPr>
          <p:nvPr/>
        </p:nvSpPr>
        <p:spPr>
          <a:xfrm>
            <a:off x="762000" y="5667375"/>
            <a:ext cx="9525000" cy="428625"/>
          </a:xfrm>
          <a:prstGeom prst="rect">
            <a:avLst/>
          </a:prstGeom>
          <a:noFill/>
          <a:ln w="0">
            <a:noFill/>
          </a:ln>
        </p:spPr>
        <p:txBody>
          <a:bodyPr/>
          <a:lstStyle>
            <a:defPPr>
              <a:defRPr sz="1725" b="0">
                <a:solidFill>
                  <a:srgbClr val="B8D5E6"/>
                </a:solidFill>
              </a:defRPr>
            </a:defPPr>
            <a:lvl1pPr>
              <a:defRPr sz="1725" b="0">
                <a:solidFill>
                  <a:srgbClr val="B8D5E6"/>
                </a:solidFill>
              </a:defRPr>
            </a:lvl1pPr>
            <a:lvl2pPr>
              <a:defRPr sz="1725" b="0">
                <a:solidFill>
                  <a:srgbClr val="B8D5E6"/>
                </a:solidFill>
              </a:defRPr>
            </a:lvl2pPr>
            <a:lvl3pPr>
              <a:defRPr sz="1725" b="0">
                <a:solidFill>
                  <a:srgbClr val="B8D5E6"/>
                </a:solidFill>
              </a:defRPr>
            </a:lvl3pPr>
            <a:lvl4pPr>
              <a:defRPr sz="1725" b="0">
                <a:solidFill>
                  <a:srgbClr val="B8D5E6"/>
                </a:solidFill>
              </a:defRPr>
            </a:lvl4pPr>
            <a:lvl5pPr>
              <a:defRPr sz="1725" b="0">
                <a:solidFill>
                  <a:srgbClr val="B8D5E6"/>
                </a:solidFill>
              </a:defRPr>
            </a:lvl5pPr>
            <a:lvl6pPr>
              <a:defRPr sz="1725" b="0">
                <a:solidFill>
                  <a:srgbClr val="B8D5E6"/>
                </a:solidFill>
              </a:defRPr>
            </a:lvl6pPr>
            <a:lvl7pPr>
              <a:defRPr sz="1725" b="0">
                <a:solidFill>
                  <a:srgbClr val="B8D5E6"/>
                </a:solidFill>
              </a:defRPr>
            </a:lvl7pPr>
            <a:lvl8pPr>
              <a:defRPr sz="1725" b="0">
                <a:solidFill>
                  <a:srgbClr val="B8D5E6"/>
                </a:solidFill>
              </a:defRPr>
            </a:lvl8pPr>
            <a:lvl9pPr>
              <a:defRPr sz="1725" b="0">
                <a:solidFill>
                  <a:srgbClr val="B8D5E6"/>
                </a:solidFill>
              </a:defRPr>
            </a:lvl9pPr>
          </a:lstStyle>
          <a:p>
            <a:pPr>
              <a:defRPr sz="1725" b="0">
                <a:solidFill>
                  <a:srgbClr val="B8D5E6"/>
                </a:solidFill>
              </a:defRPr>
            </a:pPr>
            <a:r>
              <a:rPr sz="1725" b="0">
                <a:solidFill>
                  <a:srgbClr val="B8D5E6"/>
                </a:solidFill>
              </a:rPr>
              <a:t>组会汇报  2026.10.22</a:t>
            </a:r>
            <a:endParaRPr sz="1725" b="0">
              <a:solidFill>
                <a:srgbClr val="B8D5E6"/>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9" name="矩形 8"/>
          <p:cNvSpPr>
            <a:spLocks noGrp="1"/>
          </p:cNvSpPr>
          <p:nvPr/>
        </p:nvSpPr>
        <p:spPr>
          <a:xfrm>
            <a:off x="571500" y="381000"/>
            <a:ext cx="11049000" cy="762000"/>
          </a:xfrm>
          <a:prstGeom prst="rect">
            <a:avLst/>
          </a:prstGeom>
          <a:noFill/>
          <a:ln w="0">
            <a:noFill/>
          </a:ln>
        </p:spPr>
        <p:txBody>
          <a:bodyPr/>
          <a:lstStyle>
            <a:defPPr>
              <a:defRPr sz="3225" b="1">
                <a:solidFill>
                  <a:srgbClr val="102B46"/>
                </a:solidFill>
              </a:defRPr>
            </a:defPPr>
            <a:lvl1pPr>
              <a:defRPr sz="3225" b="1">
                <a:solidFill>
                  <a:srgbClr val="102B46"/>
                </a:solidFill>
              </a:defRPr>
            </a:lvl1pPr>
            <a:lvl2pPr>
              <a:defRPr sz="3225" b="1">
                <a:solidFill>
                  <a:srgbClr val="102B46"/>
                </a:solidFill>
              </a:defRPr>
            </a:lvl2pPr>
            <a:lvl3pPr>
              <a:defRPr sz="3225" b="1">
                <a:solidFill>
                  <a:srgbClr val="102B46"/>
                </a:solidFill>
              </a:defRPr>
            </a:lvl3pPr>
            <a:lvl4pPr>
              <a:defRPr sz="3225" b="1">
                <a:solidFill>
                  <a:srgbClr val="102B46"/>
                </a:solidFill>
              </a:defRPr>
            </a:lvl4pPr>
            <a:lvl5pPr>
              <a:defRPr sz="3225" b="1">
                <a:solidFill>
                  <a:srgbClr val="102B46"/>
                </a:solidFill>
              </a:defRPr>
            </a:lvl5pPr>
            <a:lvl6pPr>
              <a:defRPr sz="3225" b="1">
                <a:solidFill>
                  <a:srgbClr val="102B46"/>
                </a:solidFill>
              </a:defRPr>
            </a:lvl6pPr>
            <a:lvl7pPr>
              <a:defRPr sz="3225" b="1">
                <a:solidFill>
                  <a:srgbClr val="102B46"/>
                </a:solidFill>
              </a:defRPr>
            </a:lvl7pPr>
            <a:lvl8pPr>
              <a:defRPr sz="3225" b="1">
                <a:solidFill>
                  <a:srgbClr val="102B46"/>
                </a:solidFill>
              </a:defRPr>
            </a:lvl8pPr>
            <a:lvl9pPr>
              <a:defRPr sz="3225" b="1">
                <a:solidFill>
                  <a:srgbClr val="102B46"/>
                </a:solidFill>
              </a:defRPr>
            </a:lvl9pPr>
          </a:lstStyle>
          <a:p>
            <a:pPr>
              <a:defRPr sz="3225" b="1">
                <a:solidFill>
                  <a:srgbClr val="102B46"/>
                </a:solidFill>
              </a:defRPr>
            </a:pPr>
            <a:r>
              <a:rPr sz="3225" b="1">
                <a:solidFill>
                  <a:srgbClr val="102B46"/>
                </a:solidFill>
              </a:rPr>
              <a:t>本周结论：</a:t>
            </a:r>
            <a:r>
              <a:rPr lang="zh-CN" sz="3225" b="1">
                <a:solidFill>
                  <a:srgbClr val="102B46"/>
                </a:solidFill>
              </a:rPr>
              <a:t>使用三个</a:t>
            </a:r>
            <a:r>
              <a:rPr lang="zh-CN" sz="3225" b="1">
                <a:solidFill>
                  <a:srgbClr val="102B46"/>
                </a:solidFill>
              </a:rPr>
              <a:t>实际问题验证模型功能</a:t>
            </a:r>
            <a:endParaRPr lang="zh-CN" sz="3225" b="1">
              <a:solidFill>
                <a:srgbClr val="102B46"/>
              </a:solidFill>
            </a:endParaRPr>
          </a:p>
        </p:txBody>
      </p:sp>
      <p:sp>
        <p:nvSpPr>
          <p:cNvPr id="2" name="矩形 1"/>
          <p:cNvSpPr>
            <a:spLocks noGrp="1"/>
          </p:cNvSpPr>
          <p:nvPr/>
        </p:nvSpPr>
        <p:spPr>
          <a:xfrm>
            <a:off x="11144250" y="6381750"/>
            <a:ext cx="476250" cy="257175"/>
          </a:xfrm>
          <a:prstGeom prst="rect">
            <a:avLst/>
          </a:prstGeom>
          <a:noFill/>
          <a:ln w="0">
            <a:noFill/>
          </a:ln>
        </p:spPr>
        <p:txBody>
          <a:bodyPr/>
          <a:lstStyle>
            <a:defPPr>
              <a:defRPr sz="1350" b="0">
                <a:solidFill>
                  <a:srgbClr val="526574"/>
                </a:solidFill>
              </a:defRPr>
            </a:defPPr>
            <a:lvl1pPr>
              <a:defRPr sz="1350" b="0">
                <a:solidFill>
                  <a:srgbClr val="526574"/>
                </a:solidFill>
              </a:defRPr>
            </a:lvl1pPr>
            <a:lvl2pPr>
              <a:defRPr sz="1350" b="0">
                <a:solidFill>
                  <a:srgbClr val="526574"/>
                </a:solidFill>
              </a:defRPr>
            </a:lvl2pPr>
            <a:lvl3pPr>
              <a:defRPr sz="1350" b="0">
                <a:solidFill>
                  <a:srgbClr val="526574"/>
                </a:solidFill>
              </a:defRPr>
            </a:lvl3pPr>
            <a:lvl4pPr>
              <a:defRPr sz="1350" b="0">
                <a:solidFill>
                  <a:srgbClr val="526574"/>
                </a:solidFill>
              </a:defRPr>
            </a:lvl4pPr>
            <a:lvl5pPr>
              <a:defRPr sz="1350" b="0">
                <a:solidFill>
                  <a:srgbClr val="526574"/>
                </a:solidFill>
              </a:defRPr>
            </a:lvl5pPr>
            <a:lvl6pPr>
              <a:defRPr sz="1350" b="0">
                <a:solidFill>
                  <a:srgbClr val="526574"/>
                </a:solidFill>
              </a:defRPr>
            </a:lvl6pPr>
            <a:lvl7pPr>
              <a:defRPr sz="1350" b="0">
                <a:solidFill>
                  <a:srgbClr val="526574"/>
                </a:solidFill>
              </a:defRPr>
            </a:lvl7pPr>
            <a:lvl8pPr>
              <a:defRPr sz="1350" b="0">
                <a:solidFill>
                  <a:srgbClr val="526574"/>
                </a:solidFill>
              </a:defRPr>
            </a:lvl8pPr>
            <a:lvl9pPr>
              <a:defRPr sz="1350" b="0">
                <a:solidFill>
                  <a:srgbClr val="526574"/>
                </a:solidFill>
              </a:defRPr>
            </a:lvl9pPr>
          </a:lstStyle>
          <a:p>
            <a:pPr>
              <a:defRPr sz="1350" b="0">
                <a:solidFill>
                  <a:srgbClr val="526574"/>
                </a:solidFill>
              </a:defRPr>
            </a:pPr>
            <a:r>
              <a:rPr sz="1350" b="0">
                <a:solidFill>
                  <a:srgbClr val="526574"/>
                </a:solidFill>
              </a:rPr>
              <a:t>02</a:t>
            </a:r>
            <a:endParaRPr sz="1350" b="0">
              <a:solidFill>
                <a:srgbClr val="526574"/>
              </a:solidFill>
            </a:endParaRPr>
          </a:p>
        </p:txBody>
      </p:sp>
      <p:sp>
        <p:nvSpPr>
          <p:cNvPr id="3" name="矩形 2"/>
          <p:cNvSpPr>
            <a:spLocks noGrp="1"/>
          </p:cNvSpPr>
          <p:nvPr>
            <p:custDataLst>
              <p:tags r:id="rId1"/>
            </p:custDataLst>
          </p:nvPr>
        </p:nvSpPr>
        <p:spPr>
          <a:xfrm>
            <a:off x="619125" y="1619250"/>
            <a:ext cx="10906125" cy="400050"/>
          </a:xfrm>
          <a:prstGeom prst="rect">
            <a:avLst/>
          </a:prstGeom>
          <a:noFill/>
          <a:ln w="0">
            <a:noFill/>
          </a:ln>
        </p:spPr>
        <p:txBody>
          <a:bodyPr/>
          <a:lstStyle>
            <a:defPPr>
              <a:defRPr sz="2175" b="1">
                <a:solidFill>
                  <a:srgbClr val="176A8A"/>
                </a:solidFill>
              </a:defRPr>
            </a:defPPr>
            <a:lvl1pPr>
              <a:defRPr sz="2175" b="1">
                <a:solidFill>
                  <a:srgbClr val="176A8A"/>
                </a:solidFill>
              </a:defRPr>
            </a:lvl1pPr>
            <a:lvl2pPr>
              <a:defRPr sz="2175" b="1">
                <a:solidFill>
                  <a:srgbClr val="176A8A"/>
                </a:solidFill>
              </a:defRPr>
            </a:lvl2pPr>
            <a:lvl3pPr>
              <a:defRPr sz="2175" b="1">
                <a:solidFill>
                  <a:srgbClr val="176A8A"/>
                </a:solidFill>
              </a:defRPr>
            </a:lvl3pPr>
            <a:lvl4pPr>
              <a:defRPr sz="2175" b="1">
                <a:solidFill>
                  <a:srgbClr val="176A8A"/>
                </a:solidFill>
              </a:defRPr>
            </a:lvl4pPr>
            <a:lvl5pPr>
              <a:defRPr sz="2175" b="1">
                <a:solidFill>
                  <a:srgbClr val="176A8A"/>
                </a:solidFill>
              </a:defRPr>
            </a:lvl5pPr>
            <a:lvl6pPr>
              <a:defRPr sz="2175" b="1">
                <a:solidFill>
                  <a:srgbClr val="176A8A"/>
                </a:solidFill>
              </a:defRPr>
            </a:lvl6pPr>
            <a:lvl7pPr>
              <a:defRPr sz="2175" b="1">
                <a:solidFill>
                  <a:srgbClr val="176A8A"/>
                </a:solidFill>
              </a:defRPr>
            </a:lvl7pPr>
            <a:lvl8pPr>
              <a:defRPr sz="2175" b="1">
                <a:solidFill>
                  <a:srgbClr val="176A8A"/>
                </a:solidFill>
              </a:defRPr>
            </a:lvl8pPr>
            <a:lvl9pPr>
              <a:defRPr sz="2175" b="1">
                <a:solidFill>
                  <a:srgbClr val="176A8A"/>
                </a:solidFill>
              </a:defRPr>
            </a:lvl9pPr>
          </a:lstStyle>
          <a:p>
            <a:pPr>
              <a:defRPr sz="2175" b="1">
                <a:solidFill>
                  <a:srgbClr val="176A8A"/>
                </a:solidFill>
              </a:defRPr>
            </a:pPr>
            <a:r>
              <a:rPr sz="2175" b="1">
                <a:solidFill>
                  <a:srgbClr val="176A8A"/>
                </a:solidFill>
              </a:rPr>
              <a:t>DUV：已找到高透射膜系</a:t>
            </a:r>
            <a:endParaRPr sz="2175" b="1">
              <a:solidFill>
                <a:srgbClr val="176A8A"/>
              </a:solidFill>
            </a:endParaRPr>
          </a:p>
        </p:txBody>
      </p:sp>
      <p:sp>
        <p:nvSpPr>
          <p:cNvPr id="4" name="矩形 3"/>
          <p:cNvSpPr>
            <a:spLocks noGrp="1"/>
          </p:cNvSpPr>
          <p:nvPr>
            <p:custDataLst>
              <p:tags r:id="rId2"/>
            </p:custDataLst>
          </p:nvPr>
        </p:nvSpPr>
        <p:spPr>
          <a:xfrm>
            <a:off x="619125" y="2038350"/>
            <a:ext cx="10906125" cy="609600"/>
          </a:xfrm>
          <a:prstGeom prst="rect">
            <a:avLst/>
          </a:prstGeom>
          <a:noFill/>
          <a:ln w="0">
            <a:noFill/>
          </a:ln>
        </p:spPr>
        <p:txBody>
          <a:bodyPr/>
          <a:lstStyle>
            <a:defPPr>
              <a:defRPr sz="1875" b="0">
                <a:solidFill>
                  <a:srgbClr val="526574"/>
                </a:solidFill>
              </a:defRPr>
            </a:defPPr>
            <a:lvl1pPr>
              <a:defRPr sz="1875" b="0">
                <a:solidFill>
                  <a:srgbClr val="526574"/>
                </a:solidFill>
              </a:defRPr>
            </a:lvl1pPr>
            <a:lvl2pPr>
              <a:defRPr sz="1875" b="0">
                <a:solidFill>
                  <a:srgbClr val="526574"/>
                </a:solidFill>
              </a:defRPr>
            </a:lvl2pPr>
            <a:lvl3pPr>
              <a:defRPr sz="1875" b="0">
                <a:solidFill>
                  <a:srgbClr val="526574"/>
                </a:solidFill>
              </a:defRPr>
            </a:lvl3pPr>
            <a:lvl4pPr>
              <a:defRPr sz="1875" b="0">
                <a:solidFill>
                  <a:srgbClr val="526574"/>
                </a:solidFill>
              </a:defRPr>
            </a:lvl4pPr>
            <a:lvl5pPr>
              <a:defRPr sz="1875" b="0">
                <a:solidFill>
                  <a:srgbClr val="526574"/>
                </a:solidFill>
              </a:defRPr>
            </a:lvl5pPr>
            <a:lvl6pPr>
              <a:defRPr sz="1875" b="0">
                <a:solidFill>
                  <a:srgbClr val="526574"/>
                </a:solidFill>
              </a:defRPr>
            </a:lvl6pPr>
            <a:lvl7pPr>
              <a:defRPr sz="1875" b="0">
                <a:solidFill>
                  <a:srgbClr val="526574"/>
                </a:solidFill>
              </a:defRPr>
            </a:lvl7pPr>
            <a:lvl8pPr>
              <a:defRPr sz="1875" b="0">
                <a:solidFill>
                  <a:srgbClr val="526574"/>
                </a:solidFill>
              </a:defRPr>
            </a:lvl8pPr>
            <a:lvl9pPr>
              <a:defRPr sz="1875" b="0">
                <a:solidFill>
                  <a:srgbClr val="526574"/>
                </a:solidFill>
              </a:defRPr>
            </a:lvl9pPr>
          </a:lstStyle>
          <a:p>
            <a:pPr>
              <a:defRPr sz="1875" b="0">
                <a:solidFill>
                  <a:srgbClr val="526574"/>
                </a:solidFill>
              </a:defRPr>
            </a:pPr>
            <a:r>
              <a:rPr lang="zh-CN" sz="1875" b="0">
                <a:solidFill>
                  <a:srgbClr val="526574"/>
                </a:solidFill>
              </a:rPr>
              <a:t>原文找到的最大透射率为</a:t>
            </a:r>
            <a:r>
              <a:rPr lang="en-US" altLang="zh-CN" sz="1875" b="0">
                <a:solidFill>
                  <a:srgbClr val="526574"/>
                </a:solidFill>
              </a:rPr>
              <a:t>99.75%</a:t>
            </a:r>
            <a:r>
              <a:rPr lang="zh-CN" altLang="en-US" sz="1875" b="0">
                <a:solidFill>
                  <a:srgbClr val="526574"/>
                </a:solidFill>
                <a:ea typeface="宋体" panose="02010600030101010101" pitchFamily="2" charset="-122"/>
              </a:rPr>
              <a:t>，</a:t>
            </a:r>
            <a:r>
              <a:rPr sz="1875" b="0">
                <a:solidFill>
                  <a:srgbClr val="526574"/>
                </a:solidFill>
              </a:rPr>
              <a:t>固定</a:t>
            </a:r>
            <a:r>
              <a:rPr lang="zh-CN" sz="1875" b="0">
                <a:solidFill>
                  <a:srgbClr val="526574"/>
                </a:solidFill>
              </a:rPr>
              <a:t>材料</a:t>
            </a:r>
            <a:r>
              <a:rPr sz="1875" b="0">
                <a:solidFill>
                  <a:srgbClr val="526574"/>
                </a:solidFill>
              </a:rPr>
              <a:t>常数 v1 / v2 最好平均 T 约 99.82%</a:t>
            </a:r>
            <a:endParaRPr sz="1875" b="0">
              <a:solidFill>
                <a:srgbClr val="526574"/>
              </a:solidFill>
            </a:endParaRPr>
          </a:p>
        </p:txBody>
      </p:sp>
      <p:sp>
        <p:nvSpPr>
          <p:cNvPr id="5" name="矩形 4"/>
          <p:cNvSpPr>
            <a:spLocks noGrp="1"/>
          </p:cNvSpPr>
          <p:nvPr>
            <p:custDataLst>
              <p:tags r:id="rId3"/>
            </p:custDataLst>
          </p:nvPr>
        </p:nvSpPr>
        <p:spPr>
          <a:xfrm>
            <a:off x="619125" y="3048000"/>
            <a:ext cx="10906125" cy="400050"/>
          </a:xfrm>
          <a:prstGeom prst="rect">
            <a:avLst/>
          </a:prstGeom>
          <a:noFill/>
          <a:ln w="0">
            <a:noFill/>
          </a:ln>
        </p:spPr>
        <p:txBody>
          <a:bodyPr/>
          <a:lstStyle>
            <a:defPPr>
              <a:defRPr sz="2175" b="1">
                <a:solidFill>
                  <a:srgbClr val="176A8A"/>
                </a:solidFill>
              </a:defRPr>
            </a:defPPr>
            <a:lvl1pPr>
              <a:defRPr sz="2175" b="1">
                <a:solidFill>
                  <a:srgbClr val="176A8A"/>
                </a:solidFill>
              </a:defRPr>
            </a:lvl1pPr>
            <a:lvl2pPr>
              <a:defRPr sz="2175" b="1">
                <a:solidFill>
                  <a:srgbClr val="176A8A"/>
                </a:solidFill>
              </a:defRPr>
            </a:lvl2pPr>
            <a:lvl3pPr>
              <a:defRPr sz="2175" b="1">
                <a:solidFill>
                  <a:srgbClr val="176A8A"/>
                </a:solidFill>
              </a:defRPr>
            </a:lvl3pPr>
            <a:lvl4pPr>
              <a:defRPr sz="2175" b="1">
                <a:solidFill>
                  <a:srgbClr val="176A8A"/>
                </a:solidFill>
              </a:defRPr>
            </a:lvl4pPr>
            <a:lvl5pPr>
              <a:defRPr sz="2175" b="1">
                <a:solidFill>
                  <a:srgbClr val="176A8A"/>
                </a:solidFill>
              </a:defRPr>
            </a:lvl5pPr>
            <a:lvl6pPr>
              <a:defRPr sz="2175" b="1">
                <a:solidFill>
                  <a:srgbClr val="176A8A"/>
                </a:solidFill>
              </a:defRPr>
            </a:lvl6pPr>
            <a:lvl7pPr>
              <a:defRPr sz="2175" b="1">
                <a:solidFill>
                  <a:srgbClr val="176A8A"/>
                </a:solidFill>
              </a:defRPr>
            </a:lvl7pPr>
            <a:lvl8pPr>
              <a:defRPr sz="2175" b="1">
                <a:solidFill>
                  <a:srgbClr val="176A8A"/>
                </a:solidFill>
              </a:defRPr>
            </a:lvl8pPr>
            <a:lvl9pPr>
              <a:defRPr sz="2175" b="1">
                <a:solidFill>
                  <a:srgbClr val="176A8A"/>
                </a:solidFill>
              </a:defRPr>
            </a:lvl9pPr>
          </a:lstStyle>
          <a:p>
            <a:pPr>
              <a:defRPr sz="2175" b="1">
                <a:solidFill>
                  <a:srgbClr val="176A8A"/>
                </a:solidFill>
              </a:defRPr>
            </a:pPr>
            <a:r>
              <a:rPr sz="2175" b="1">
                <a:solidFill>
                  <a:srgbClr val="176A8A"/>
                </a:solidFill>
              </a:rPr>
              <a:t>宽带吸收：更优解存在，HPPO 的搜索贡献待验证</a:t>
            </a:r>
            <a:endParaRPr sz="2175" b="1">
              <a:solidFill>
                <a:srgbClr val="176A8A"/>
              </a:solidFill>
            </a:endParaRPr>
          </a:p>
        </p:txBody>
      </p:sp>
      <p:sp>
        <p:nvSpPr>
          <p:cNvPr id="6" name="矩形 5"/>
          <p:cNvSpPr>
            <a:spLocks noGrp="1"/>
          </p:cNvSpPr>
          <p:nvPr>
            <p:custDataLst>
              <p:tags r:id="rId4"/>
            </p:custDataLst>
          </p:nvPr>
        </p:nvSpPr>
        <p:spPr>
          <a:xfrm>
            <a:off x="619125" y="3467100"/>
            <a:ext cx="10906125" cy="609600"/>
          </a:xfrm>
          <a:prstGeom prst="rect">
            <a:avLst/>
          </a:prstGeom>
          <a:noFill/>
          <a:ln w="0">
            <a:noFill/>
          </a:ln>
        </p:spPr>
        <p:txBody>
          <a:bodyPr/>
          <a:lstStyle>
            <a:defPPr>
              <a:defRPr sz="1875" b="0">
                <a:solidFill>
                  <a:srgbClr val="526574"/>
                </a:solidFill>
              </a:defRPr>
            </a:defPPr>
            <a:lvl1pPr>
              <a:defRPr sz="1875" b="0">
                <a:solidFill>
                  <a:srgbClr val="526574"/>
                </a:solidFill>
              </a:defRPr>
            </a:lvl1pPr>
            <a:lvl2pPr>
              <a:defRPr sz="1875" b="0">
                <a:solidFill>
                  <a:srgbClr val="526574"/>
                </a:solidFill>
              </a:defRPr>
            </a:lvl2pPr>
            <a:lvl3pPr>
              <a:defRPr sz="1875" b="0">
                <a:solidFill>
                  <a:srgbClr val="526574"/>
                </a:solidFill>
              </a:defRPr>
            </a:lvl3pPr>
            <a:lvl4pPr>
              <a:defRPr sz="1875" b="0">
                <a:solidFill>
                  <a:srgbClr val="526574"/>
                </a:solidFill>
              </a:defRPr>
            </a:lvl4pPr>
            <a:lvl5pPr>
              <a:defRPr sz="1875" b="0">
                <a:solidFill>
                  <a:srgbClr val="526574"/>
                </a:solidFill>
              </a:defRPr>
            </a:lvl5pPr>
            <a:lvl6pPr>
              <a:defRPr sz="1875" b="0">
                <a:solidFill>
                  <a:srgbClr val="526574"/>
                </a:solidFill>
              </a:defRPr>
            </a:lvl6pPr>
            <a:lvl7pPr>
              <a:defRPr sz="1875" b="0">
                <a:solidFill>
                  <a:srgbClr val="526574"/>
                </a:solidFill>
              </a:defRPr>
            </a:lvl7pPr>
            <a:lvl8pPr>
              <a:defRPr sz="1875" b="0">
                <a:solidFill>
                  <a:srgbClr val="526574"/>
                </a:solidFill>
              </a:defRPr>
            </a:lvl8pPr>
            <a:lvl9pPr>
              <a:defRPr sz="1875" b="0">
                <a:solidFill>
                  <a:srgbClr val="526574"/>
                </a:solidFill>
              </a:defRPr>
            </a:lvl9pPr>
          </a:lstStyle>
          <a:p>
            <a:pPr>
              <a:defRPr sz="1875" b="0">
                <a:solidFill>
                  <a:srgbClr val="526574"/>
                </a:solidFill>
              </a:defRPr>
            </a:pPr>
            <a:r>
              <a:rPr lang="zh-CN" sz="1875" b="0">
                <a:solidFill>
                  <a:srgbClr val="526574"/>
                </a:solidFill>
              </a:rPr>
              <a:t>原文在同条件下得到的输出约为</a:t>
            </a:r>
            <a:r>
              <a:rPr lang="en-US" altLang="zh-CN" sz="1875" b="0">
                <a:solidFill>
                  <a:srgbClr val="526574"/>
                </a:solidFill>
              </a:rPr>
              <a:t>95.37%</a:t>
            </a:r>
            <a:r>
              <a:rPr lang="zh-CN" altLang="en-US" sz="1875" b="0">
                <a:solidFill>
                  <a:srgbClr val="526574"/>
                </a:solidFill>
                <a:ea typeface="宋体" panose="02010600030101010101" pitchFamily="2" charset="-122"/>
              </a:rPr>
              <a:t>，</a:t>
            </a:r>
            <a:r>
              <a:rPr sz="1875" b="0">
                <a:solidFill>
                  <a:srgbClr val="526574"/>
                </a:solidFill>
              </a:rPr>
              <a:t>同一当前基底下，</a:t>
            </a:r>
            <a:r>
              <a:rPr lang="zh-CN" sz="1875" b="0">
                <a:solidFill>
                  <a:srgbClr val="526574"/>
                </a:solidFill>
              </a:rPr>
              <a:t>初步</a:t>
            </a:r>
            <a:r>
              <a:rPr sz="1875" b="0">
                <a:solidFill>
                  <a:srgbClr val="526574"/>
                </a:solidFill>
              </a:rPr>
              <a:t>历史 HPPO 候选为 9</a:t>
            </a:r>
            <a:r>
              <a:rPr lang="en-US" sz="1875" b="0">
                <a:solidFill>
                  <a:srgbClr val="526574"/>
                </a:solidFill>
              </a:rPr>
              <a:t>2</a:t>
            </a:r>
            <a:r>
              <a:rPr sz="1875" b="0">
                <a:solidFill>
                  <a:srgbClr val="526574"/>
                </a:solidFill>
              </a:rPr>
              <a:t>.</a:t>
            </a:r>
            <a:r>
              <a:rPr lang="en-US" sz="1875" b="0">
                <a:solidFill>
                  <a:srgbClr val="526574"/>
                </a:solidFill>
              </a:rPr>
              <a:t>94</a:t>
            </a:r>
            <a:r>
              <a:rPr sz="1875" b="0">
                <a:solidFill>
                  <a:srgbClr val="526574"/>
                </a:solidFill>
              </a:rPr>
              <a:t>%，联合搜索达到 9</a:t>
            </a:r>
            <a:r>
              <a:rPr lang="en-US" sz="1875" b="0">
                <a:solidFill>
                  <a:srgbClr val="526574"/>
                </a:solidFill>
              </a:rPr>
              <a:t>9.15</a:t>
            </a:r>
            <a:r>
              <a:rPr sz="1875" b="0">
                <a:solidFill>
                  <a:srgbClr val="526574"/>
                </a:solidFill>
              </a:rPr>
              <a:t>%。</a:t>
            </a:r>
            <a:endParaRPr sz="1875" b="0">
              <a:solidFill>
                <a:srgbClr val="526574"/>
              </a:solidFill>
            </a:endParaRPr>
          </a:p>
        </p:txBody>
      </p:sp>
      <p:sp>
        <p:nvSpPr>
          <p:cNvPr id="7" name="矩形 6"/>
          <p:cNvSpPr>
            <a:spLocks noGrp="1"/>
          </p:cNvSpPr>
          <p:nvPr/>
        </p:nvSpPr>
        <p:spPr>
          <a:xfrm>
            <a:off x="619125" y="4797425"/>
            <a:ext cx="10906125" cy="400050"/>
          </a:xfrm>
          <a:prstGeom prst="rect">
            <a:avLst/>
          </a:prstGeom>
          <a:noFill/>
          <a:ln w="0">
            <a:noFill/>
          </a:ln>
        </p:spPr>
        <p:txBody>
          <a:bodyPr/>
          <a:lstStyle>
            <a:defPPr>
              <a:defRPr sz="2175" b="1">
                <a:solidFill>
                  <a:srgbClr val="176A8A"/>
                </a:solidFill>
              </a:defRPr>
            </a:defPPr>
            <a:lvl1pPr>
              <a:defRPr sz="2175" b="1">
                <a:solidFill>
                  <a:srgbClr val="176A8A"/>
                </a:solidFill>
              </a:defRPr>
            </a:lvl1pPr>
            <a:lvl2pPr>
              <a:defRPr sz="2175" b="1">
                <a:solidFill>
                  <a:srgbClr val="176A8A"/>
                </a:solidFill>
              </a:defRPr>
            </a:lvl2pPr>
            <a:lvl3pPr>
              <a:defRPr sz="2175" b="1">
                <a:solidFill>
                  <a:srgbClr val="176A8A"/>
                </a:solidFill>
              </a:defRPr>
            </a:lvl3pPr>
            <a:lvl4pPr>
              <a:defRPr sz="2175" b="1">
                <a:solidFill>
                  <a:srgbClr val="176A8A"/>
                </a:solidFill>
              </a:defRPr>
            </a:lvl4pPr>
            <a:lvl5pPr>
              <a:defRPr sz="2175" b="1">
                <a:solidFill>
                  <a:srgbClr val="176A8A"/>
                </a:solidFill>
              </a:defRPr>
            </a:lvl5pPr>
            <a:lvl6pPr>
              <a:defRPr sz="2175" b="1">
                <a:solidFill>
                  <a:srgbClr val="176A8A"/>
                </a:solidFill>
              </a:defRPr>
            </a:lvl6pPr>
            <a:lvl7pPr>
              <a:defRPr sz="2175" b="1">
                <a:solidFill>
                  <a:srgbClr val="176A8A"/>
                </a:solidFill>
              </a:defRPr>
            </a:lvl7pPr>
            <a:lvl8pPr>
              <a:defRPr sz="2175" b="1">
                <a:solidFill>
                  <a:srgbClr val="176A8A"/>
                </a:solidFill>
              </a:defRPr>
            </a:lvl8pPr>
            <a:lvl9pPr>
              <a:defRPr sz="2175" b="1">
                <a:solidFill>
                  <a:srgbClr val="176A8A"/>
                </a:solidFill>
              </a:defRPr>
            </a:lvl9pPr>
          </a:lstStyle>
          <a:p>
            <a:pPr>
              <a:defRPr sz="2175" b="1">
                <a:solidFill>
                  <a:srgbClr val="176A8A"/>
                </a:solidFill>
              </a:defRPr>
            </a:pPr>
            <a:r>
              <a:rPr sz="2175" b="1">
                <a:solidFill>
                  <a:srgbClr val="176A8A"/>
                </a:solidFill>
              </a:rPr>
              <a:t>灯泡滤光片：纯 HPPO 的 R 目标改善，应用仍未满足</a:t>
            </a:r>
            <a:endParaRPr sz="2175" b="1">
              <a:solidFill>
                <a:srgbClr val="176A8A"/>
              </a:solidFill>
            </a:endParaRPr>
          </a:p>
        </p:txBody>
      </p:sp>
      <p:sp>
        <p:nvSpPr>
          <p:cNvPr id="8" name="矩形 7"/>
          <p:cNvSpPr>
            <a:spLocks noGrp="1"/>
          </p:cNvSpPr>
          <p:nvPr/>
        </p:nvSpPr>
        <p:spPr>
          <a:xfrm>
            <a:off x="623570" y="5229225"/>
            <a:ext cx="10906125" cy="609600"/>
          </a:xfrm>
          <a:prstGeom prst="rect">
            <a:avLst/>
          </a:prstGeom>
          <a:noFill/>
          <a:ln w="0">
            <a:noFill/>
          </a:ln>
        </p:spPr>
        <p:txBody>
          <a:bodyPr/>
          <a:lstStyle>
            <a:defPPr>
              <a:defRPr sz="1875" b="0">
                <a:solidFill>
                  <a:srgbClr val="526574"/>
                </a:solidFill>
              </a:defRPr>
            </a:defPPr>
            <a:lvl1pPr>
              <a:defRPr sz="1875" b="0">
                <a:solidFill>
                  <a:srgbClr val="526574"/>
                </a:solidFill>
              </a:defRPr>
            </a:lvl1pPr>
            <a:lvl2pPr>
              <a:defRPr sz="1875" b="0">
                <a:solidFill>
                  <a:srgbClr val="526574"/>
                </a:solidFill>
              </a:defRPr>
            </a:lvl2pPr>
            <a:lvl3pPr>
              <a:defRPr sz="1875" b="0">
                <a:solidFill>
                  <a:srgbClr val="526574"/>
                </a:solidFill>
              </a:defRPr>
            </a:lvl3pPr>
            <a:lvl4pPr>
              <a:defRPr sz="1875" b="0">
                <a:solidFill>
                  <a:srgbClr val="526574"/>
                </a:solidFill>
              </a:defRPr>
            </a:lvl4pPr>
            <a:lvl5pPr>
              <a:defRPr sz="1875" b="0">
                <a:solidFill>
                  <a:srgbClr val="526574"/>
                </a:solidFill>
              </a:defRPr>
            </a:lvl5pPr>
            <a:lvl6pPr>
              <a:defRPr sz="1875" b="0">
                <a:solidFill>
                  <a:srgbClr val="526574"/>
                </a:solidFill>
              </a:defRPr>
            </a:lvl6pPr>
            <a:lvl7pPr>
              <a:defRPr sz="1875" b="0">
                <a:solidFill>
                  <a:srgbClr val="526574"/>
                </a:solidFill>
              </a:defRPr>
            </a:lvl7pPr>
            <a:lvl8pPr>
              <a:defRPr sz="1875" b="0">
                <a:solidFill>
                  <a:srgbClr val="526574"/>
                </a:solidFill>
              </a:defRPr>
            </a:lvl8pPr>
            <a:lvl9pPr>
              <a:defRPr sz="1875" b="0">
                <a:solidFill>
                  <a:srgbClr val="526574"/>
                </a:solidFill>
              </a:defRPr>
            </a:lvl9pPr>
          </a:lstStyle>
          <a:p>
            <a:pPr>
              <a:defRPr sz="1875" b="0">
                <a:solidFill>
                  <a:srgbClr val="526574"/>
                </a:solidFill>
              </a:defRPr>
            </a:pPr>
            <a:r>
              <a:rPr lang="zh-CN" sz="1875" b="0">
                <a:solidFill>
                  <a:srgbClr val="526574"/>
                </a:solidFill>
              </a:rPr>
              <a:t>多目标导致优化效果略微变差，可通过增加约束改善</a:t>
            </a:r>
            <a:r>
              <a:rPr lang="zh-CN" sz="1875" b="0">
                <a:solidFill>
                  <a:srgbClr val="526574"/>
                </a:solidFill>
              </a:rPr>
              <a:t>训练效果</a:t>
            </a:r>
            <a:endParaRPr lang="zh-CN" sz="1875" b="0">
              <a:solidFill>
                <a:srgbClr val="526574"/>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6" name="矩形 5"/>
          <p:cNvSpPr>
            <a:spLocks noGrp="1"/>
          </p:cNvSpPr>
          <p:nvPr/>
        </p:nvSpPr>
        <p:spPr>
          <a:xfrm>
            <a:off x="571500" y="381000"/>
            <a:ext cx="11049000" cy="762000"/>
          </a:xfrm>
          <a:prstGeom prst="rect">
            <a:avLst/>
          </a:prstGeom>
          <a:noFill/>
          <a:ln w="0">
            <a:noFill/>
          </a:ln>
        </p:spPr>
        <p:txBody>
          <a:bodyPr/>
          <a:lstStyle>
            <a:defPPr>
              <a:defRPr sz="3225" b="1">
                <a:solidFill>
                  <a:srgbClr val="102B46"/>
                </a:solidFill>
              </a:defRPr>
            </a:defPPr>
            <a:lvl1pPr>
              <a:defRPr sz="3225" b="1">
                <a:solidFill>
                  <a:srgbClr val="102B46"/>
                </a:solidFill>
              </a:defRPr>
            </a:lvl1pPr>
            <a:lvl2pPr>
              <a:defRPr sz="3225" b="1">
                <a:solidFill>
                  <a:srgbClr val="102B46"/>
                </a:solidFill>
              </a:defRPr>
            </a:lvl2pPr>
            <a:lvl3pPr>
              <a:defRPr sz="3225" b="1">
                <a:solidFill>
                  <a:srgbClr val="102B46"/>
                </a:solidFill>
              </a:defRPr>
            </a:lvl3pPr>
            <a:lvl4pPr>
              <a:defRPr sz="3225" b="1">
                <a:solidFill>
                  <a:srgbClr val="102B46"/>
                </a:solidFill>
              </a:defRPr>
            </a:lvl4pPr>
            <a:lvl5pPr>
              <a:defRPr sz="3225" b="1">
                <a:solidFill>
                  <a:srgbClr val="102B46"/>
                </a:solidFill>
              </a:defRPr>
            </a:lvl5pPr>
            <a:lvl6pPr>
              <a:defRPr sz="3225" b="1">
                <a:solidFill>
                  <a:srgbClr val="102B46"/>
                </a:solidFill>
              </a:defRPr>
            </a:lvl6pPr>
            <a:lvl7pPr>
              <a:defRPr sz="3225" b="1">
                <a:solidFill>
                  <a:srgbClr val="102B46"/>
                </a:solidFill>
              </a:defRPr>
            </a:lvl7pPr>
            <a:lvl8pPr>
              <a:defRPr sz="3225" b="1">
                <a:solidFill>
                  <a:srgbClr val="102B46"/>
                </a:solidFill>
              </a:defRPr>
            </a:lvl8pPr>
            <a:lvl9pPr>
              <a:defRPr sz="3225" b="1">
                <a:solidFill>
                  <a:srgbClr val="102B46"/>
                </a:solidFill>
              </a:defRPr>
            </a:lvl9pPr>
          </a:lstStyle>
          <a:p>
            <a:pPr>
              <a:defRPr sz="3225" b="1">
                <a:solidFill>
                  <a:srgbClr val="102B46"/>
                </a:solidFill>
              </a:defRPr>
            </a:pPr>
            <a:r>
              <a:rPr sz="3225" b="1">
                <a:solidFill>
                  <a:srgbClr val="102B46"/>
                </a:solidFill>
              </a:rPr>
              <a:t>三个 baseline 分别检验不同能力</a:t>
            </a:r>
            <a:endParaRPr sz="3225" b="1">
              <a:solidFill>
                <a:srgbClr val="102B46"/>
              </a:solidFill>
            </a:endParaRPr>
          </a:p>
        </p:txBody>
      </p:sp>
      <p:sp>
        <p:nvSpPr>
          <p:cNvPr id="2" name="矩形 1"/>
          <p:cNvSpPr>
            <a:spLocks noGrp="1"/>
          </p:cNvSpPr>
          <p:nvPr/>
        </p:nvSpPr>
        <p:spPr>
          <a:xfrm>
            <a:off x="11144250" y="6381750"/>
            <a:ext cx="476250" cy="257175"/>
          </a:xfrm>
          <a:prstGeom prst="rect">
            <a:avLst/>
          </a:prstGeom>
          <a:noFill/>
          <a:ln w="0">
            <a:noFill/>
          </a:ln>
        </p:spPr>
        <p:txBody>
          <a:bodyPr/>
          <a:lstStyle>
            <a:defPPr>
              <a:defRPr sz="1350" b="0">
                <a:solidFill>
                  <a:srgbClr val="526574"/>
                </a:solidFill>
              </a:defRPr>
            </a:defPPr>
            <a:lvl1pPr>
              <a:defRPr sz="1350" b="0">
                <a:solidFill>
                  <a:srgbClr val="526574"/>
                </a:solidFill>
              </a:defRPr>
            </a:lvl1pPr>
            <a:lvl2pPr>
              <a:defRPr sz="1350" b="0">
                <a:solidFill>
                  <a:srgbClr val="526574"/>
                </a:solidFill>
              </a:defRPr>
            </a:lvl2pPr>
            <a:lvl3pPr>
              <a:defRPr sz="1350" b="0">
                <a:solidFill>
                  <a:srgbClr val="526574"/>
                </a:solidFill>
              </a:defRPr>
            </a:lvl3pPr>
            <a:lvl4pPr>
              <a:defRPr sz="1350" b="0">
                <a:solidFill>
                  <a:srgbClr val="526574"/>
                </a:solidFill>
              </a:defRPr>
            </a:lvl4pPr>
            <a:lvl5pPr>
              <a:defRPr sz="1350" b="0">
                <a:solidFill>
                  <a:srgbClr val="526574"/>
                </a:solidFill>
              </a:defRPr>
            </a:lvl5pPr>
            <a:lvl6pPr>
              <a:defRPr sz="1350" b="0">
                <a:solidFill>
                  <a:srgbClr val="526574"/>
                </a:solidFill>
              </a:defRPr>
            </a:lvl6pPr>
            <a:lvl7pPr>
              <a:defRPr sz="1350" b="0">
                <a:solidFill>
                  <a:srgbClr val="526574"/>
                </a:solidFill>
              </a:defRPr>
            </a:lvl7pPr>
            <a:lvl8pPr>
              <a:defRPr sz="1350" b="0">
                <a:solidFill>
                  <a:srgbClr val="526574"/>
                </a:solidFill>
              </a:defRPr>
            </a:lvl8pPr>
            <a:lvl9pPr>
              <a:defRPr sz="1350" b="0">
                <a:solidFill>
                  <a:srgbClr val="526574"/>
                </a:solidFill>
              </a:defRPr>
            </a:lvl9pPr>
          </a:lstStyle>
          <a:p>
            <a:pPr>
              <a:defRPr sz="1350" b="0">
                <a:solidFill>
                  <a:srgbClr val="526574"/>
                </a:solidFill>
              </a:defRPr>
            </a:pPr>
            <a:r>
              <a:rPr sz="1350" b="0">
                <a:solidFill>
                  <a:srgbClr val="526574"/>
                </a:solidFill>
              </a:rPr>
              <a:t>03</a:t>
            </a:r>
            <a:endParaRPr sz="1350" b="0">
              <a:solidFill>
                <a:srgbClr val="526574"/>
              </a:solidFill>
            </a:endParaRPr>
          </a:p>
        </p:txBody>
      </p:sp>
      <p:graphicFrame>
        <p:nvGraphicFramePr>
          <p:cNvPr id="3" name="表格 2"/>
          <p:cNvGraphicFramePr/>
          <p:nvPr/>
        </p:nvGraphicFramePr>
        <p:xfrm>
          <a:off x="619125" y="1619250"/>
          <a:ext cx="10953750" cy="2762252"/>
        </p:xfrm>
        <a:graphic>
          <a:graphicData uri="http://schemas.openxmlformats.org/drawingml/2006/table">
            <a:tbl>
              <a:tblPr/>
              <a:tblGrid>
                <a:gridCol w="2428875"/>
                <a:gridCol w="3714750"/>
                <a:gridCol w="4810125"/>
              </a:tblGrid>
              <a:tr h="690563">
                <a:tc>
                  <a:txBody>
                    <a:bodyPr/>
                    <a:lstStyle/>
                    <a:p>
                      <a:r>
                        <a:rPr sz="1875" b="1">
                          <a:solidFill>
                            <a:srgbClr val="FFFFFF"/>
                          </a:solidFill>
                        </a:rPr>
                        <a:t>任务</a:t>
                      </a:r>
                      <a:endParaRPr sz="1875" b="1">
                        <a:solidFill>
                          <a:srgbClr val="FFFFFF"/>
                        </a:solidFill>
                      </a:endParaRPr>
                    </a:p>
                  </a:txBody>
                  <a:tcPr>
                    <a:lnL w="9525">
                      <a:solidFill>
                        <a:srgbClr val="DAE2E8"/>
                      </a:solidFill>
                      <a:prstDash val="solid"/>
                    </a:lnL>
                    <a:lnR w="9525">
                      <a:solidFill>
                        <a:srgbClr val="DAE2E8"/>
                      </a:solidFill>
                      <a:prstDash val="solid"/>
                    </a:lnR>
                    <a:lnT w="9525">
                      <a:solidFill>
                        <a:srgbClr val="DAE2E8"/>
                      </a:solidFill>
                      <a:prstDash val="solid"/>
                    </a:lnT>
                    <a:lnB w="9525">
                      <a:solidFill>
                        <a:srgbClr val="DAE2E8"/>
                      </a:solidFill>
                      <a:prstDash val="solid"/>
                    </a:lnB>
                    <a:solidFill>
                      <a:srgbClr val="102B46"/>
                    </a:solidFill>
                  </a:tcPr>
                </a:tc>
                <a:tc>
                  <a:txBody>
                    <a:bodyPr/>
                    <a:lstStyle/>
                    <a:p>
                      <a:r>
                        <a:rPr sz="1875" b="1">
                          <a:solidFill>
                            <a:srgbClr val="FFFFFF"/>
                          </a:solidFill>
                        </a:rPr>
                        <a:t>优化目标</a:t>
                      </a:r>
                      <a:endParaRPr sz="1875" b="1">
                        <a:solidFill>
                          <a:srgbClr val="FFFFFF"/>
                        </a:solidFill>
                      </a:endParaRPr>
                    </a:p>
                  </a:txBody>
                  <a:tcPr>
                    <a:lnR w="9525">
                      <a:solidFill>
                        <a:srgbClr val="DAE2E8"/>
                      </a:solidFill>
                      <a:prstDash val="solid"/>
                    </a:lnR>
                    <a:lnT w="9525">
                      <a:solidFill>
                        <a:srgbClr val="DAE2E8"/>
                      </a:solidFill>
                      <a:prstDash val="solid"/>
                    </a:lnT>
                    <a:lnB w="9525">
                      <a:solidFill>
                        <a:srgbClr val="DAE2E8"/>
                      </a:solidFill>
                      <a:prstDash val="solid"/>
                    </a:lnB>
                    <a:solidFill>
                      <a:srgbClr val="102B46"/>
                    </a:solidFill>
                  </a:tcPr>
                </a:tc>
                <a:tc>
                  <a:txBody>
                    <a:bodyPr/>
                    <a:lstStyle/>
                    <a:p>
                      <a:r>
                        <a:rPr sz="1875" b="1">
                          <a:solidFill>
                            <a:srgbClr val="FFFFFF"/>
                          </a:solidFill>
                        </a:rPr>
                        <a:t>主要检验问题</a:t>
                      </a:r>
                      <a:endParaRPr sz="1875" b="1">
                        <a:solidFill>
                          <a:srgbClr val="FFFFFF"/>
                        </a:solidFill>
                      </a:endParaRPr>
                    </a:p>
                  </a:txBody>
                  <a:tcPr>
                    <a:lnR w="9525">
                      <a:solidFill>
                        <a:srgbClr val="DAE2E8"/>
                      </a:solidFill>
                      <a:prstDash val="solid"/>
                    </a:lnR>
                    <a:lnT w="9525">
                      <a:solidFill>
                        <a:srgbClr val="DAE2E8"/>
                      </a:solidFill>
                      <a:prstDash val="solid"/>
                    </a:lnT>
                    <a:lnB w="9525">
                      <a:solidFill>
                        <a:srgbClr val="DAE2E8"/>
                      </a:solidFill>
                      <a:prstDash val="solid"/>
                    </a:lnB>
                    <a:solidFill>
                      <a:srgbClr val="102B46"/>
                    </a:solidFill>
                  </a:tcPr>
                </a:tc>
              </a:tr>
              <a:tr h="690563">
                <a:tc>
                  <a:txBody>
                    <a:bodyPr/>
                    <a:lstStyle/>
                    <a:p>
                      <a:r>
                        <a:rPr sz="1875" b="0">
                          <a:solidFill>
                            <a:srgbClr val="102B46"/>
                          </a:solidFill>
                        </a:rPr>
                        <a:t>DUV 193 nm</a:t>
                      </a:r>
                      <a:endParaRPr sz="1875" b="0">
                        <a:solidFill>
                          <a:srgbClr val="102B46"/>
                        </a:solidFill>
                      </a:endParaRPr>
                    </a:p>
                  </a:txBody>
                  <a:tcPr>
                    <a:lnL w="9525">
                      <a:solidFill>
                        <a:srgbClr val="DAE2E8"/>
                      </a:solidFill>
                      <a:prstDash val="solid"/>
                    </a:lnL>
                    <a:lnR w="9525">
                      <a:solidFill>
                        <a:srgbClr val="DAE2E8"/>
                      </a:solidFill>
                      <a:prstDash val="solid"/>
                    </a:lnR>
                    <a:lnB w="9525">
                      <a:solidFill>
                        <a:srgbClr val="DAE2E8"/>
                      </a:solidFill>
                      <a:prstDash val="solid"/>
                    </a:lnB>
                    <a:solidFill>
                      <a:srgbClr val="F1F6F8"/>
                    </a:solidFill>
                  </a:tcPr>
                </a:tc>
                <a:tc>
                  <a:txBody>
                    <a:bodyPr/>
                    <a:lstStyle/>
                    <a:p>
                      <a:r>
                        <a:rPr sz="1875" b="0">
                          <a:solidFill>
                            <a:srgbClr val="102B46"/>
                          </a:solidFill>
                        </a:rPr>
                        <a:t>0–45°高透射</a:t>
                      </a:r>
                      <a:endParaRPr sz="1875" b="0">
                        <a:solidFill>
                          <a:srgbClr val="102B46"/>
                        </a:solidFill>
                      </a:endParaRPr>
                    </a:p>
                  </a:txBody>
                  <a:tcPr>
                    <a:lnR w="9525">
                      <a:solidFill>
                        <a:srgbClr val="DAE2E8"/>
                      </a:solidFill>
                      <a:prstDash val="solid"/>
                    </a:lnR>
                    <a:lnB w="9525">
                      <a:solidFill>
                        <a:srgbClr val="DAE2E8"/>
                      </a:solidFill>
                      <a:prstDash val="solid"/>
                    </a:lnB>
                    <a:solidFill>
                      <a:srgbClr val="F1F6F8"/>
                    </a:solidFill>
                  </a:tcPr>
                </a:tc>
                <a:tc>
                  <a:txBody>
                    <a:bodyPr/>
                    <a:lstStyle/>
                    <a:p>
                      <a:r>
                        <a:rPr sz="1875" b="0">
                          <a:solidFill>
                            <a:srgbClr val="102B46"/>
                          </a:solidFill>
                        </a:rPr>
                        <a:t>基础设计能力与训练稳定性</a:t>
                      </a:r>
                      <a:endParaRPr sz="1875" b="0">
                        <a:solidFill>
                          <a:srgbClr val="102B46"/>
                        </a:solidFill>
                      </a:endParaRPr>
                    </a:p>
                  </a:txBody>
                  <a:tcPr>
                    <a:lnR w="9525">
                      <a:solidFill>
                        <a:srgbClr val="DAE2E8"/>
                      </a:solidFill>
                      <a:prstDash val="solid"/>
                    </a:lnR>
                    <a:lnB w="9525">
                      <a:solidFill>
                        <a:srgbClr val="DAE2E8"/>
                      </a:solidFill>
                      <a:prstDash val="solid"/>
                    </a:lnB>
                    <a:solidFill>
                      <a:srgbClr val="F1F6F8"/>
                    </a:solidFill>
                  </a:tcPr>
                </a:tc>
              </a:tr>
              <a:tr h="690563">
                <a:tc>
                  <a:txBody>
                    <a:bodyPr/>
                    <a:lstStyle/>
                    <a:p>
                      <a:r>
                        <a:rPr sz="1875" b="0">
                          <a:solidFill>
                            <a:srgbClr val="102B46"/>
                          </a:solidFill>
                        </a:rPr>
                        <a:t>400–2000 nm 吸收</a:t>
                      </a:r>
                      <a:endParaRPr sz="1875" b="0">
                        <a:solidFill>
                          <a:srgbClr val="102B46"/>
                        </a:solidFill>
                      </a:endParaRPr>
                    </a:p>
                  </a:txBody>
                  <a:tcPr>
                    <a:lnL w="9525">
                      <a:solidFill>
                        <a:srgbClr val="DAE2E8"/>
                      </a:solidFill>
                      <a:prstDash val="solid"/>
                    </a:lnL>
                    <a:lnR w="9525">
                      <a:solidFill>
                        <a:srgbClr val="DAE2E8"/>
                      </a:solidFill>
                      <a:prstDash val="solid"/>
                    </a:lnR>
                    <a:lnB w="9525">
                      <a:solidFill>
                        <a:srgbClr val="DAE2E8"/>
                      </a:solidFill>
                      <a:prstDash val="solid"/>
                    </a:lnB>
                    <a:solidFill>
                      <a:srgbClr val="FFFFFF"/>
                    </a:solidFill>
                  </a:tcPr>
                </a:tc>
                <a:tc>
                  <a:txBody>
                    <a:bodyPr/>
                    <a:lstStyle/>
                    <a:p>
                      <a:r>
                        <a:rPr sz="1875" b="0">
                          <a:solidFill>
                            <a:srgbClr val="102B46"/>
                          </a:solidFill>
                        </a:rPr>
                        <a:t>宽带平均吸收尽可能高</a:t>
                      </a:r>
                      <a:endParaRPr sz="1875" b="0">
                        <a:solidFill>
                          <a:srgbClr val="102B46"/>
                        </a:solidFill>
                      </a:endParaRPr>
                    </a:p>
                  </a:txBody>
                  <a:tcPr>
                    <a:lnR w="9525">
                      <a:solidFill>
                        <a:srgbClr val="DAE2E8"/>
                      </a:solidFill>
                      <a:prstDash val="solid"/>
                    </a:lnR>
                    <a:lnB w="9525">
                      <a:solidFill>
                        <a:srgbClr val="DAE2E8"/>
                      </a:solidFill>
                      <a:prstDash val="solid"/>
                    </a:lnB>
                    <a:solidFill>
                      <a:srgbClr val="FFFFFF"/>
                    </a:solidFill>
                  </a:tcPr>
                </a:tc>
                <a:tc>
                  <a:txBody>
                    <a:bodyPr/>
                    <a:lstStyle/>
                    <a:p>
                      <a:r>
                        <a:rPr sz="1875" b="0">
                          <a:solidFill>
                            <a:srgbClr val="102B46"/>
                          </a:solidFill>
                        </a:rPr>
                        <a:t>复杂结构与厚度联合搜索</a:t>
                      </a:r>
                      <a:endParaRPr sz="1875" b="0">
                        <a:solidFill>
                          <a:srgbClr val="102B46"/>
                        </a:solidFill>
                      </a:endParaRPr>
                    </a:p>
                  </a:txBody>
                  <a:tcPr>
                    <a:lnR w="9525">
                      <a:solidFill>
                        <a:srgbClr val="DAE2E8"/>
                      </a:solidFill>
                      <a:prstDash val="solid"/>
                    </a:lnR>
                    <a:lnB w="9525">
                      <a:solidFill>
                        <a:srgbClr val="DAE2E8"/>
                      </a:solidFill>
                      <a:prstDash val="solid"/>
                    </a:lnB>
                    <a:solidFill>
                      <a:srgbClr val="FFFFFF"/>
                    </a:solidFill>
                  </a:tcPr>
                </a:tc>
              </a:tr>
              <a:tr h="690563">
                <a:tc>
                  <a:txBody>
                    <a:bodyPr/>
                    <a:lstStyle/>
                    <a:p>
                      <a:r>
                        <a:rPr sz="1875" b="0">
                          <a:solidFill>
                            <a:srgbClr val="102B46"/>
                          </a:solidFill>
                        </a:rPr>
                        <a:t>灯泡滤光片</a:t>
                      </a:r>
                      <a:endParaRPr sz="1875" b="0">
                        <a:solidFill>
                          <a:srgbClr val="102B46"/>
                        </a:solidFill>
                      </a:endParaRPr>
                    </a:p>
                  </a:txBody>
                  <a:tcPr>
                    <a:lnL w="9525">
                      <a:solidFill>
                        <a:srgbClr val="DAE2E8"/>
                      </a:solidFill>
                      <a:prstDash val="solid"/>
                    </a:lnL>
                    <a:lnR w="9525">
                      <a:solidFill>
                        <a:srgbClr val="DAE2E8"/>
                      </a:solidFill>
                      <a:prstDash val="solid"/>
                    </a:lnR>
                    <a:lnB w="9525">
                      <a:solidFill>
                        <a:srgbClr val="DAE2E8"/>
                      </a:solidFill>
                      <a:prstDash val="solid"/>
                    </a:lnB>
                    <a:solidFill>
                      <a:srgbClr val="F1F6F8"/>
                    </a:solidFill>
                  </a:tcPr>
                </a:tc>
                <a:tc>
                  <a:txBody>
                    <a:bodyPr/>
                    <a:lstStyle/>
                    <a:p>
                      <a:r>
                        <a:rPr sz="1875" b="0">
                          <a:solidFill>
                            <a:srgbClr val="102B46"/>
                          </a:solidFill>
                        </a:rPr>
                        <a:t>可见低 R，其他波段高 R</a:t>
                      </a:r>
                      <a:endParaRPr sz="1875" b="0">
                        <a:solidFill>
                          <a:srgbClr val="102B46"/>
                        </a:solidFill>
                      </a:endParaRPr>
                    </a:p>
                  </a:txBody>
                  <a:tcPr>
                    <a:lnR w="9525">
                      <a:solidFill>
                        <a:srgbClr val="DAE2E8"/>
                      </a:solidFill>
                      <a:prstDash val="solid"/>
                    </a:lnR>
                    <a:lnB w="9525">
                      <a:solidFill>
                        <a:srgbClr val="DAE2E8"/>
                      </a:solidFill>
                      <a:prstDash val="solid"/>
                    </a:lnB>
                    <a:solidFill>
                      <a:srgbClr val="F1F6F8"/>
                    </a:solidFill>
                  </a:tcPr>
                </a:tc>
                <a:tc>
                  <a:txBody>
                    <a:bodyPr/>
                    <a:lstStyle/>
                    <a:p>
                      <a:r>
                        <a:rPr sz="1875" b="0">
                          <a:solidFill>
                            <a:srgbClr val="102B46"/>
                          </a:solidFill>
                        </a:rPr>
                        <a:t>长期信用分配与应用指标一致性</a:t>
                      </a:r>
                      <a:endParaRPr sz="1875" b="0">
                        <a:solidFill>
                          <a:srgbClr val="102B46"/>
                        </a:solidFill>
                      </a:endParaRPr>
                    </a:p>
                  </a:txBody>
                  <a:tcPr>
                    <a:lnR w="9525">
                      <a:solidFill>
                        <a:srgbClr val="DAE2E8"/>
                      </a:solidFill>
                      <a:prstDash val="solid"/>
                    </a:lnR>
                    <a:lnB w="9525">
                      <a:solidFill>
                        <a:srgbClr val="DAE2E8"/>
                      </a:solidFill>
                      <a:prstDash val="solid"/>
                    </a:lnB>
                    <a:solidFill>
                      <a:srgbClr val="F1F6F8"/>
                    </a:solidFill>
                  </a:tcPr>
                </a:tc>
              </a:tr>
            </a:tbl>
          </a:graphicData>
        </a:graphic>
      </p:graphicFrame>
      <p:sp>
        <p:nvSpPr>
          <p:cNvPr id="4" name="矩形 3"/>
          <p:cNvSpPr>
            <a:spLocks noGrp="1"/>
          </p:cNvSpPr>
          <p:nvPr/>
        </p:nvSpPr>
        <p:spPr>
          <a:xfrm>
            <a:off x="666750" y="4953000"/>
            <a:ext cx="10763250" cy="666750"/>
          </a:xfrm>
          <a:prstGeom prst="rect">
            <a:avLst/>
          </a:prstGeom>
          <a:noFill/>
          <a:ln w="0">
            <a:noFill/>
          </a:ln>
        </p:spPr>
        <p:txBody>
          <a:bodyPr/>
          <a:lstStyle>
            <a:defPPr>
              <a:defRPr sz="2175" b="1">
                <a:solidFill>
                  <a:srgbClr val="176A8A"/>
                </a:solidFill>
              </a:defRPr>
            </a:defPPr>
            <a:lvl1pPr>
              <a:defRPr sz="2175" b="1">
                <a:solidFill>
                  <a:srgbClr val="176A8A"/>
                </a:solidFill>
              </a:defRPr>
            </a:lvl1pPr>
            <a:lvl2pPr>
              <a:defRPr sz="2175" b="1">
                <a:solidFill>
                  <a:srgbClr val="176A8A"/>
                </a:solidFill>
              </a:defRPr>
            </a:lvl2pPr>
            <a:lvl3pPr>
              <a:defRPr sz="2175" b="1">
                <a:solidFill>
                  <a:srgbClr val="176A8A"/>
                </a:solidFill>
              </a:defRPr>
            </a:lvl3pPr>
            <a:lvl4pPr>
              <a:defRPr sz="2175" b="1">
                <a:solidFill>
                  <a:srgbClr val="176A8A"/>
                </a:solidFill>
              </a:defRPr>
            </a:lvl4pPr>
            <a:lvl5pPr>
              <a:defRPr sz="2175" b="1">
                <a:solidFill>
                  <a:srgbClr val="176A8A"/>
                </a:solidFill>
              </a:defRPr>
            </a:lvl5pPr>
            <a:lvl6pPr>
              <a:defRPr sz="2175" b="1">
                <a:solidFill>
                  <a:srgbClr val="176A8A"/>
                </a:solidFill>
              </a:defRPr>
            </a:lvl6pPr>
            <a:lvl7pPr>
              <a:defRPr sz="2175" b="1">
                <a:solidFill>
                  <a:srgbClr val="176A8A"/>
                </a:solidFill>
              </a:defRPr>
            </a:lvl7pPr>
            <a:lvl8pPr>
              <a:defRPr sz="2175" b="1">
                <a:solidFill>
                  <a:srgbClr val="176A8A"/>
                </a:solidFill>
              </a:defRPr>
            </a:lvl8pPr>
            <a:lvl9pPr>
              <a:defRPr sz="2175" b="1">
                <a:solidFill>
                  <a:srgbClr val="176A8A"/>
                </a:solidFill>
              </a:defRPr>
            </a:lvl9pPr>
          </a:lstStyle>
          <a:p>
            <a:pPr>
              <a:defRPr sz="2175" b="1">
                <a:solidFill>
                  <a:srgbClr val="176A8A"/>
                </a:solidFill>
              </a:defRPr>
            </a:pPr>
            <a:r>
              <a:rPr sz="2175" b="1">
                <a:solidFill>
                  <a:srgbClr val="176A8A"/>
                </a:solidFill>
              </a:rPr>
              <a:t>统一比较前，需要固定光学数据、约束、评估网格和计算预算</a:t>
            </a:r>
            <a:endParaRPr sz="2175" b="1">
              <a:solidFill>
                <a:srgbClr val="176A8A"/>
              </a:solidFill>
            </a:endParaRPr>
          </a:p>
        </p:txBody>
      </p:sp>
      <p:sp>
        <p:nvSpPr>
          <p:cNvPr id="5" name="矩形 4"/>
          <p:cNvSpPr>
            <a:spLocks noGrp="1"/>
          </p:cNvSpPr>
          <p:nvPr/>
        </p:nvSpPr>
        <p:spPr>
          <a:xfrm>
            <a:off x="666750" y="5762625"/>
            <a:ext cx="10763250" cy="428625"/>
          </a:xfrm>
          <a:prstGeom prst="rect">
            <a:avLst/>
          </a:prstGeom>
          <a:noFill/>
          <a:ln w="0">
            <a:noFill/>
          </a:ln>
        </p:spPr>
        <p:txBody>
          <a:bodyPr/>
          <a:lstStyle>
            <a:defPPr>
              <a:defRPr sz="1875" b="0">
                <a:solidFill>
                  <a:srgbClr val="526574"/>
                </a:solidFill>
              </a:defRPr>
            </a:defPPr>
            <a:lvl1pPr>
              <a:defRPr sz="1875" b="0">
                <a:solidFill>
                  <a:srgbClr val="526574"/>
                </a:solidFill>
              </a:defRPr>
            </a:lvl1pPr>
            <a:lvl2pPr>
              <a:defRPr sz="1875" b="0">
                <a:solidFill>
                  <a:srgbClr val="526574"/>
                </a:solidFill>
              </a:defRPr>
            </a:lvl2pPr>
            <a:lvl3pPr>
              <a:defRPr sz="1875" b="0">
                <a:solidFill>
                  <a:srgbClr val="526574"/>
                </a:solidFill>
              </a:defRPr>
            </a:lvl3pPr>
            <a:lvl4pPr>
              <a:defRPr sz="1875" b="0">
                <a:solidFill>
                  <a:srgbClr val="526574"/>
                </a:solidFill>
              </a:defRPr>
            </a:lvl4pPr>
            <a:lvl5pPr>
              <a:defRPr sz="1875" b="0">
                <a:solidFill>
                  <a:srgbClr val="526574"/>
                </a:solidFill>
              </a:defRPr>
            </a:lvl5pPr>
            <a:lvl6pPr>
              <a:defRPr sz="1875" b="0">
                <a:solidFill>
                  <a:srgbClr val="526574"/>
                </a:solidFill>
              </a:defRPr>
            </a:lvl6pPr>
            <a:lvl7pPr>
              <a:defRPr sz="1875" b="0">
                <a:solidFill>
                  <a:srgbClr val="526574"/>
                </a:solidFill>
              </a:defRPr>
            </a:lvl7pPr>
            <a:lvl8pPr>
              <a:defRPr sz="1875" b="0">
                <a:solidFill>
                  <a:srgbClr val="526574"/>
                </a:solidFill>
              </a:defRPr>
            </a:lvl8pPr>
            <a:lvl9pPr>
              <a:defRPr sz="1875" b="0">
                <a:solidFill>
                  <a:srgbClr val="526574"/>
                </a:solidFill>
              </a:defRPr>
            </a:lvl9pPr>
          </a:lstStyle>
          <a:p>
            <a:pPr>
              <a:defRPr sz="1875" b="0">
                <a:solidFill>
                  <a:srgbClr val="526574"/>
                </a:solidFill>
              </a:defRPr>
            </a:pPr>
            <a:r>
              <a:rPr lang="zh-CN" sz="1875" b="0">
                <a:solidFill>
                  <a:srgbClr val="526574"/>
                </a:solidFill>
              </a:rPr>
              <a:t>以</a:t>
            </a:r>
            <a:r>
              <a:rPr sz="1875" b="0">
                <a:solidFill>
                  <a:srgbClr val="526574"/>
                </a:solidFill>
              </a:rPr>
              <a:t>最好已遇设计</a:t>
            </a:r>
            <a:r>
              <a:rPr lang="zh-CN" sz="1875" b="0">
                <a:solidFill>
                  <a:srgbClr val="526574"/>
                </a:solidFill>
              </a:rPr>
              <a:t>作为</a:t>
            </a:r>
            <a:r>
              <a:rPr lang="zh-CN" sz="1875" b="0">
                <a:solidFill>
                  <a:srgbClr val="526574"/>
                </a:solidFill>
              </a:rPr>
              <a:t>检验标准</a:t>
            </a:r>
            <a:endParaRPr lang="zh-CN" sz="1875" b="0">
              <a:solidFill>
                <a:srgbClr val="526574"/>
              </a:solidFill>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6" name="矩形 5"/>
          <p:cNvSpPr>
            <a:spLocks noGrp="1"/>
          </p:cNvSpPr>
          <p:nvPr/>
        </p:nvSpPr>
        <p:spPr>
          <a:xfrm>
            <a:off x="571500" y="381000"/>
            <a:ext cx="11049000" cy="762000"/>
          </a:xfrm>
          <a:prstGeom prst="rect">
            <a:avLst/>
          </a:prstGeom>
          <a:noFill/>
          <a:ln w="0">
            <a:noFill/>
          </a:ln>
        </p:spPr>
        <p:txBody>
          <a:bodyPr/>
          <a:lstStyle>
            <a:defPPr>
              <a:defRPr sz="3225" b="1">
                <a:solidFill>
                  <a:srgbClr val="102B46"/>
                </a:solidFill>
              </a:defRPr>
            </a:defPPr>
            <a:lvl1pPr>
              <a:defRPr sz="3225" b="1">
                <a:solidFill>
                  <a:srgbClr val="102B46"/>
                </a:solidFill>
              </a:defRPr>
            </a:lvl1pPr>
            <a:lvl2pPr>
              <a:defRPr sz="3225" b="1">
                <a:solidFill>
                  <a:srgbClr val="102B46"/>
                </a:solidFill>
              </a:defRPr>
            </a:lvl2pPr>
            <a:lvl3pPr>
              <a:defRPr sz="3225" b="1">
                <a:solidFill>
                  <a:srgbClr val="102B46"/>
                </a:solidFill>
              </a:defRPr>
            </a:lvl3pPr>
            <a:lvl4pPr>
              <a:defRPr sz="3225" b="1">
                <a:solidFill>
                  <a:srgbClr val="102B46"/>
                </a:solidFill>
              </a:defRPr>
            </a:lvl4pPr>
            <a:lvl5pPr>
              <a:defRPr sz="3225" b="1">
                <a:solidFill>
                  <a:srgbClr val="102B46"/>
                </a:solidFill>
              </a:defRPr>
            </a:lvl5pPr>
            <a:lvl6pPr>
              <a:defRPr sz="3225" b="1">
                <a:solidFill>
                  <a:srgbClr val="102B46"/>
                </a:solidFill>
              </a:defRPr>
            </a:lvl6pPr>
            <a:lvl7pPr>
              <a:defRPr sz="3225" b="1">
                <a:solidFill>
                  <a:srgbClr val="102B46"/>
                </a:solidFill>
              </a:defRPr>
            </a:lvl7pPr>
            <a:lvl8pPr>
              <a:defRPr sz="3225" b="1">
                <a:solidFill>
                  <a:srgbClr val="102B46"/>
                </a:solidFill>
              </a:defRPr>
            </a:lvl8pPr>
            <a:lvl9pPr>
              <a:defRPr sz="3225" b="1">
                <a:solidFill>
                  <a:srgbClr val="102B46"/>
                </a:solidFill>
              </a:defRPr>
            </a:lvl9pPr>
          </a:lstStyle>
          <a:p>
            <a:pPr>
              <a:defRPr sz="3225" b="1">
                <a:solidFill>
                  <a:srgbClr val="102B46"/>
                </a:solidFill>
              </a:defRPr>
            </a:pPr>
            <a:r>
              <a:rPr lang="zh-CN" sz="3225" b="1">
                <a:solidFill>
                  <a:srgbClr val="102B46"/>
                </a:solidFill>
              </a:rPr>
              <a:t>一、</a:t>
            </a:r>
            <a:r>
              <a:rPr sz="3225" b="1">
                <a:solidFill>
                  <a:srgbClr val="102B46"/>
                </a:solidFill>
              </a:rPr>
              <a:t>DUV：两套常数版本都找到约 99.82% 的设计</a:t>
            </a:r>
            <a:endParaRPr sz="3225" b="1">
              <a:solidFill>
                <a:srgbClr val="102B46"/>
              </a:solidFill>
            </a:endParaRPr>
          </a:p>
        </p:txBody>
      </p:sp>
      <p:sp>
        <p:nvSpPr>
          <p:cNvPr id="2" name="矩形 1"/>
          <p:cNvSpPr>
            <a:spLocks noGrp="1"/>
          </p:cNvSpPr>
          <p:nvPr/>
        </p:nvSpPr>
        <p:spPr>
          <a:xfrm>
            <a:off x="11144250" y="6381750"/>
            <a:ext cx="476250" cy="257175"/>
          </a:xfrm>
          <a:prstGeom prst="rect">
            <a:avLst/>
          </a:prstGeom>
          <a:noFill/>
          <a:ln w="0">
            <a:noFill/>
          </a:ln>
        </p:spPr>
        <p:txBody>
          <a:bodyPr/>
          <a:lstStyle>
            <a:defPPr>
              <a:defRPr sz="1350" b="0">
                <a:solidFill>
                  <a:srgbClr val="526574"/>
                </a:solidFill>
              </a:defRPr>
            </a:defPPr>
            <a:lvl1pPr>
              <a:defRPr sz="1350" b="0">
                <a:solidFill>
                  <a:srgbClr val="526574"/>
                </a:solidFill>
              </a:defRPr>
            </a:lvl1pPr>
            <a:lvl2pPr>
              <a:defRPr sz="1350" b="0">
                <a:solidFill>
                  <a:srgbClr val="526574"/>
                </a:solidFill>
              </a:defRPr>
            </a:lvl2pPr>
            <a:lvl3pPr>
              <a:defRPr sz="1350" b="0">
                <a:solidFill>
                  <a:srgbClr val="526574"/>
                </a:solidFill>
              </a:defRPr>
            </a:lvl3pPr>
            <a:lvl4pPr>
              <a:defRPr sz="1350" b="0">
                <a:solidFill>
                  <a:srgbClr val="526574"/>
                </a:solidFill>
              </a:defRPr>
            </a:lvl4pPr>
            <a:lvl5pPr>
              <a:defRPr sz="1350" b="0">
                <a:solidFill>
                  <a:srgbClr val="526574"/>
                </a:solidFill>
              </a:defRPr>
            </a:lvl5pPr>
            <a:lvl6pPr>
              <a:defRPr sz="1350" b="0">
                <a:solidFill>
                  <a:srgbClr val="526574"/>
                </a:solidFill>
              </a:defRPr>
            </a:lvl6pPr>
            <a:lvl7pPr>
              <a:defRPr sz="1350" b="0">
                <a:solidFill>
                  <a:srgbClr val="526574"/>
                </a:solidFill>
              </a:defRPr>
            </a:lvl7pPr>
            <a:lvl8pPr>
              <a:defRPr sz="1350" b="0">
                <a:solidFill>
                  <a:srgbClr val="526574"/>
                </a:solidFill>
              </a:defRPr>
            </a:lvl8pPr>
            <a:lvl9pPr>
              <a:defRPr sz="1350" b="0">
                <a:solidFill>
                  <a:srgbClr val="526574"/>
                </a:solidFill>
              </a:defRPr>
            </a:lvl9pPr>
          </a:lstStyle>
          <a:p>
            <a:pPr>
              <a:defRPr sz="1350" b="0">
                <a:solidFill>
                  <a:srgbClr val="526574"/>
                </a:solidFill>
              </a:defRPr>
            </a:pPr>
            <a:r>
              <a:rPr sz="1350" b="0">
                <a:solidFill>
                  <a:srgbClr val="526574"/>
                </a:solidFill>
              </a:rPr>
              <a:t>04</a:t>
            </a:r>
            <a:endParaRPr sz="1350" b="0">
              <a:solidFill>
                <a:srgbClr val="526574"/>
              </a:solidFill>
            </a:endParaRPr>
          </a:p>
        </p:txBody>
      </p:sp>
      <p:graphicFrame>
        <p:nvGraphicFramePr>
          <p:cNvPr id="3" name="表格 2"/>
          <p:cNvGraphicFramePr/>
          <p:nvPr/>
        </p:nvGraphicFramePr>
        <p:xfrm>
          <a:off x="619125" y="1052830"/>
          <a:ext cx="10953750" cy="2428875"/>
        </p:xfrm>
        <a:graphic>
          <a:graphicData uri="http://schemas.openxmlformats.org/drawingml/2006/table">
            <a:tbl>
              <a:tblPr/>
              <a:tblGrid>
                <a:gridCol w="2857500"/>
                <a:gridCol w="1809750"/>
                <a:gridCol w="1809750"/>
                <a:gridCol w="2762250"/>
                <a:gridCol w="1714500"/>
              </a:tblGrid>
              <a:tr h="485775">
                <a:tc>
                  <a:txBody>
                    <a:bodyPr/>
                    <a:lstStyle/>
                    <a:p>
                      <a:r>
                        <a:rPr sz="1725" b="1">
                          <a:solidFill>
                            <a:srgbClr val="FFFFFF"/>
                          </a:solidFill>
                        </a:rPr>
                        <a:t>固定常数版本</a:t>
                      </a:r>
                      <a:endParaRPr sz="1725" b="1">
                        <a:solidFill>
                          <a:srgbClr val="FFFFFF"/>
                        </a:solidFill>
                      </a:endParaRPr>
                    </a:p>
                  </a:txBody>
                  <a:tcPr>
                    <a:lnL w="9525">
                      <a:solidFill>
                        <a:srgbClr val="DAE2E8"/>
                      </a:solidFill>
                      <a:prstDash val="solid"/>
                    </a:lnL>
                    <a:lnR w="9525">
                      <a:solidFill>
                        <a:srgbClr val="DAE2E8"/>
                      </a:solidFill>
                      <a:prstDash val="solid"/>
                    </a:lnR>
                    <a:lnT w="9525">
                      <a:solidFill>
                        <a:srgbClr val="DAE2E8"/>
                      </a:solidFill>
                      <a:prstDash val="solid"/>
                    </a:lnT>
                    <a:lnB w="9525">
                      <a:solidFill>
                        <a:srgbClr val="DAE2E8"/>
                      </a:solidFill>
                      <a:prstDash val="solid"/>
                    </a:lnB>
                    <a:solidFill>
                      <a:srgbClr val="102B46"/>
                    </a:solidFill>
                  </a:tcPr>
                </a:tc>
                <a:tc>
                  <a:txBody>
                    <a:bodyPr/>
                    <a:lstStyle/>
                    <a:p>
                      <a:r>
                        <a:rPr sz="1725" b="1">
                          <a:solidFill>
                            <a:srgbClr val="FFFFFF"/>
                          </a:solidFill>
                        </a:rPr>
                        <a:t>MgF₂ n</a:t>
                      </a:r>
                      <a:endParaRPr sz="1725" b="1">
                        <a:solidFill>
                          <a:srgbClr val="FFFFFF"/>
                        </a:solidFill>
                      </a:endParaRPr>
                    </a:p>
                  </a:txBody>
                  <a:tcPr>
                    <a:lnR w="9525">
                      <a:solidFill>
                        <a:srgbClr val="DAE2E8"/>
                      </a:solidFill>
                      <a:prstDash val="solid"/>
                    </a:lnR>
                    <a:lnT w="9525">
                      <a:solidFill>
                        <a:srgbClr val="DAE2E8"/>
                      </a:solidFill>
                      <a:prstDash val="solid"/>
                    </a:lnT>
                    <a:lnB w="9525">
                      <a:solidFill>
                        <a:srgbClr val="DAE2E8"/>
                      </a:solidFill>
                      <a:prstDash val="solid"/>
                    </a:lnB>
                    <a:solidFill>
                      <a:srgbClr val="102B46"/>
                    </a:solidFill>
                  </a:tcPr>
                </a:tc>
                <a:tc>
                  <a:txBody>
                    <a:bodyPr/>
                    <a:lstStyle/>
                    <a:p>
                      <a:r>
                        <a:rPr sz="1725" b="1">
                          <a:solidFill>
                            <a:srgbClr val="FFFFFF"/>
                          </a:solidFill>
                        </a:rPr>
                        <a:t>LaF₃ n</a:t>
                      </a:r>
                      <a:endParaRPr sz="1725" b="1">
                        <a:solidFill>
                          <a:srgbClr val="FFFFFF"/>
                        </a:solidFill>
                      </a:endParaRPr>
                    </a:p>
                  </a:txBody>
                  <a:tcPr>
                    <a:lnR w="9525">
                      <a:solidFill>
                        <a:srgbClr val="DAE2E8"/>
                      </a:solidFill>
                      <a:prstDash val="solid"/>
                    </a:lnR>
                    <a:lnT w="9525">
                      <a:solidFill>
                        <a:srgbClr val="DAE2E8"/>
                      </a:solidFill>
                      <a:prstDash val="solid"/>
                    </a:lnT>
                    <a:lnB w="9525">
                      <a:solidFill>
                        <a:srgbClr val="DAE2E8"/>
                      </a:solidFill>
                      <a:prstDash val="solid"/>
                    </a:lnB>
                    <a:solidFill>
                      <a:srgbClr val="102B46"/>
                    </a:solidFill>
                  </a:tcPr>
                </a:tc>
                <a:tc>
                  <a:txBody>
                    <a:bodyPr/>
                    <a:lstStyle/>
                    <a:p>
                      <a:r>
                        <a:rPr sz="1725" b="1">
                          <a:solidFill>
                            <a:srgbClr val="FFFFFF"/>
                          </a:solidFill>
                        </a:rPr>
                        <a:t>最好平均 T</a:t>
                      </a:r>
                      <a:endParaRPr sz="1725" b="1">
                        <a:solidFill>
                          <a:srgbClr val="FFFFFF"/>
                        </a:solidFill>
                      </a:endParaRPr>
                    </a:p>
                  </a:txBody>
                  <a:tcPr>
                    <a:lnR w="9525">
                      <a:solidFill>
                        <a:srgbClr val="DAE2E8"/>
                      </a:solidFill>
                      <a:prstDash val="solid"/>
                    </a:lnR>
                    <a:lnT w="9525">
                      <a:solidFill>
                        <a:srgbClr val="DAE2E8"/>
                      </a:solidFill>
                      <a:prstDash val="solid"/>
                    </a:lnT>
                    <a:lnB w="9525">
                      <a:solidFill>
                        <a:srgbClr val="DAE2E8"/>
                      </a:solidFill>
                      <a:prstDash val="solid"/>
                    </a:lnB>
                    <a:solidFill>
                      <a:srgbClr val="102B46"/>
                    </a:solidFill>
                  </a:tcPr>
                </a:tc>
                <a:tc>
                  <a:txBody>
                    <a:bodyPr/>
                    <a:lstStyle/>
                    <a:p>
                      <a:r>
                        <a:rPr sz="1725" b="1">
                          <a:solidFill>
                            <a:srgbClr val="FFFFFF"/>
                          </a:solidFill>
                        </a:rPr>
                        <a:t>层数</a:t>
                      </a:r>
                      <a:endParaRPr sz="1725" b="1">
                        <a:solidFill>
                          <a:srgbClr val="FFFFFF"/>
                        </a:solidFill>
                      </a:endParaRPr>
                    </a:p>
                  </a:txBody>
                  <a:tcPr>
                    <a:lnR w="9525">
                      <a:solidFill>
                        <a:srgbClr val="DAE2E8"/>
                      </a:solidFill>
                      <a:prstDash val="solid"/>
                    </a:lnR>
                    <a:lnT w="9525">
                      <a:solidFill>
                        <a:srgbClr val="DAE2E8"/>
                      </a:solidFill>
                      <a:prstDash val="solid"/>
                    </a:lnT>
                    <a:lnB w="9525">
                      <a:solidFill>
                        <a:srgbClr val="DAE2E8"/>
                      </a:solidFill>
                      <a:prstDash val="solid"/>
                    </a:lnB>
                    <a:solidFill>
                      <a:srgbClr val="102B46"/>
                    </a:solidFill>
                  </a:tcPr>
                </a:tc>
              </a:tr>
              <a:tr h="485775">
                <a:tc>
                  <a:txBody>
                    <a:bodyPr/>
                    <a:p>
                      <a:pPr>
                        <a:buNone/>
                      </a:pPr>
                      <a:r>
                        <a:rPr lang="en-US" altLang="zh-CN" sz="1725" b="0">
                          <a:solidFill>
                            <a:srgbClr val="102B46"/>
                          </a:solidFill>
                        </a:rPr>
                        <a:t>baseline</a:t>
                      </a:r>
                      <a:endParaRPr lang="en-US" altLang="zh-CN" sz="1725" b="0">
                        <a:solidFill>
                          <a:srgbClr val="102B46"/>
                        </a:solidFill>
                      </a:endParaRPr>
                    </a:p>
                  </a:txBody>
                  <a:tcPr>
                    <a:lnL w="9525">
                      <a:solidFill>
                        <a:srgbClr val="DAE2E8"/>
                      </a:solidFill>
                      <a:prstDash val="solid"/>
                    </a:lnL>
                    <a:lnR w="9525">
                      <a:solidFill>
                        <a:srgbClr val="DAE2E8"/>
                      </a:solidFill>
                      <a:prstDash val="solid"/>
                    </a:lnR>
                    <a:lnB w="9525">
                      <a:solidFill>
                        <a:srgbClr val="DAE2E8"/>
                      </a:solidFill>
                      <a:prstDash val="solid"/>
                    </a:lnB>
                    <a:solidFill>
                      <a:srgbClr val="F1F6F8"/>
                    </a:solidFill>
                  </a:tcPr>
                </a:tc>
                <a:tc>
                  <a:txBody>
                    <a:bodyPr/>
                    <a:p>
                      <a:pPr>
                        <a:buNone/>
                      </a:pPr>
                      <a:r>
                        <a:rPr lang="en-US" altLang="zh-CN" sz="1725" b="0">
                          <a:solidFill>
                            <a:srgbClr val="102B46"/>
                          </a:solidFill>
                        </a:rPr>
                        <a:t>1.440</a:t>
                      </a:r>
                      <a:endParaRPr lang="en-US" altLang="zh-CN" sz="1725" b="0">
                        <a:solidFill>
                          <a:srgbClr val="102B46"/>
                        </a:solidFill>
                      </a:endParaRPr>
                    </a:p>
                  </a:txBody>
                  <a:tcPr>
                    <a:lnR w="9525">
                      <a:solidFill>
                        <a:srgbClr val="DAE2E8"/>
                      </a:solidFill>
                      <a:prstDash val="solid"/>
                    </a:lnR>
                    <a:lnB w="9525">
                      <a:solidFill>
                        <a:srgbClr val="DAE2E8"/>
                      </a:solidFill>
                      <a:prstDash val="solid"/>
                    </a:lnB>
                    <a:solidFill>
                      <a:srgbClr val="F1F6F8"/>
                    </a:solidFill>
                  </a:tcPr>
                </a:tc>
                <a:tc>
                  <a:txBody>
                    <a:bodyPr/>
                    <a:p>
                      <a:pPr>
                        <a:buNone/>
                      </a:pPr>
                      <a:r>
                        <a:rPr lang="en-US" altLang="zh-CN" sz="1725" b="0">
                          <a:solidFill>
                            <a:srgbClr val="102B46"/>
                          </a:solidFill>
                        </a:rPr>
                        <a:t>1.640</a:t>
                      </a:r>
                      <a:endParaRPr lang="en-US" altLang="zh-CN" sz="1725" b="0">
                        <a:solidFill>
                          <a:srgbClr val="102B46"/>
                        </a:solidFill>
                      </a:endParaRPr>
                    </a:p>
                  </a:txBody>
                  <a:tcPr>
                    <a:lnR w="9525">
                      <a:solidFill>
                        <a:srgbClr val="DAE2E8"/>
                      </a:solidFill>
                      <a:prstDash val="solid"/>
                    </a:lnR>
                    <a:lnB w="9525">
                      <a:solidFill>
                        <a:srgbClr val="DAE2E8"/>
                      </a:solidFill>
                      <a:prstDash val="solid"/>
                    </a:lnB>
                    <a:solidFill>
                      <a:srgbClr val="F1F6F8"/>
                    </a:solidFill>
                  </a:tcPr>
                </a:tc>
                <a:tc>
                  <a:txBody>
                    <a:bodyPr/>
                    <a:p>
                      <a:pPr>
                        <a:buNone/>
                      </a:pPr>
                      <a:r>
                        <a:rPr lang="en-US" altLang="zh-CN" sz="1725" b="0">
                          <a:solidFill>
                            <a:srgbClr val="102B46"/>
                          </a:solidFill>
                        </a:rPr>
                        <a:t>99.75%</a:t>
                      </a:r>
                      <a:endParaRPr lang="en-US" altLang="zh-CN" sz="1725" b="0">
                        <a:solidFill>
                          <a:srgbClr val="102B46"/>
                        </a:solidFill>
                      </a:endParaRPr>
                    </a:p>
                  </a:txBody>
                  <a:tcPr>
                    <a:lnR w="9525">
                      <a:solidFill>
                        <a:srgbClr val="DAE2E8"/>
                      </a:solidFill>
                      <a:prstDash val="solid"/>
                    </a:lnR>
                    <a:lnB w="9525">
                      <a:solidFill>
                        <a:srgbClr val="DAE2E8"/>
                      </a:solidFill>
                      <a:prstDash val="solid"/>
                    </a:lnB>
                    <a:solidFill>
                      <a:srgbClr val="F1F6F8"/>
                    </a:solidFill>
                  </a:tcPr>
                </a:tc>
                <a:tc>
                  <a:txBody>
                    <a:bodyPr/>
                    <a:p>
                      <a:pPr>
                        <a:buNone/>
                      </a:pPr>
                      <a:r>
                        <a:rPr lang="en-US" altLang="zh-CN" sz="1725" b="0">
                          <a:solidFill>
                            <a:srgbClr val="102B46"/>
                          </a:solidFill>
                        </a:rPr>
                        <a:t>3</a:t>
                      </a:r>
                      <a:endParaRPr lang="en-US" altLang="zh-CN" sz="1725" b="0">
                        <a:solidFill>
                          <a:srgbClr val="102B46"/>
                        </a:solidFill>
                      </a:endParaRPr>
                    </a:p>
                  </a:txBody>
                  <a:tcPr>
                    <a:lnR w="9525">
                      <a:solidFill>
                        <a:srgbClr val="DAE2E8"/>
                      </a:solidFill>
                      <a:prstDash val="solid"/>
                    </a:lnR>
                    <a:lnB w="9525">
                      <a:solidFill>
                        <a:srgbClr val="DAE2E8"/>
                      </a:solidFill>
                      <a:prstDash val="solid"/>
                    </a:lnB>
                    <a:solidFill>
                      <a:srgbClr val="F1F6F8"/>
                    </a:solidFill>
                  </a:tcPr>
                </a:tc>
              </a:tr>
              <a:tr h="485775">
                <a:tc>
                  <a:txBody>
                    <a:bodyPr/>
                    <a:lstStyle/>
                    <a:p>
                      <a:r>
                        <a:rPr sz="1725" b="0">
                          <a:solidFill>
                            <a:srgbClr val="102B46"/>
                          </a:solidFill>
                        </a:rPr>
                        <a:t>v1 / D1</a:t>
                      </a:r>
                      <a:endParaRPr sz="1725" b="0">
                        <a:solidFill>
                          <a:srgbClr val="102B46"/>
                        </a:solidFill>
                      </a:endParaRPr>
                    </a:p>
                  </a:txBody>
                  <a:tcPr>
                    <a:lnL w="9525">
                      <a:solidFill>
                        <a:srgbClr val="DAE2E8"/>
                      </a:solidFill>
                      <a:prstDash val="solid"/>
                    </a:lnL>
                    <a:lnR w="9525">
                      <a:solidFill>
                        <a:srgbClr val="DAE2E8"/>
                      </a:solidFill>
                      <a:prstDash val="solid"/>
                    </a:lnR>
                    <a:lnB w="9525">
                      <a:solidFill>
                        <a:srgbClr val="DAE2E8"/>
                      </a:solidFill>
                      <a:prstDash val="solid"/>
                    </a:lnB>
                    <a:solidFill>
                      <a:srgbClr val="F1F6F8"/>
                    </a:solidFill>
                  </a:tcPr>
                </a:tc>
                <a:tc>
                  <a:txBody>
                    <a:bodyPr/>
                    <a:lstStyle/>
                    <a:p>
                      <a:r>
                        <a:rPr sz="1725" b="0">
                          <a:solidFill>
                            <a:srgbClr val="102B46"/>
                          </a:solidFill>
                        </a:rPr>
                        <a:t>1.420</a:t>
                      </a:r>
                      <a:endParaRPr sz="1725" b="0">
                        <a:solidFill>
                          <a:srgbClr val="102B46"/>
                        </a:solidFill>
                      </a:endParaRPr>
                    </a:p>
                  </a:txBody>
                  <a:tcPr>
                    <a:lnR w="9525">
                      <a:solidFill>
                        <a:srgbClr val="DAE2E8"/>
                      </a:solidFill>
                      <a:prstDash val="solid"/>
                    </a:lnR>
                    <a:lnB w="9525">
                      <a:solidFill>
                        <a:srgbClr val="DAE2E8"/>
                      </a:solidFill>
                      <a:prstDash val="solid"/>
                    </a:lnB>
                    <a:solidFill>
                      <a:srgbClr val="F1F6F8"/>
                    </a:solidFill>
                  </a:tcPr>
                </a:tc>
                <a:tc>
                  <a:txBody>
                    <a:bodyPr/>
                    <a:lstStyle/>
                    <a:p>
                      <a:r>
                        <a:rPr sz="1725" b="0">
                          <a:solidFill>
                            <a:srgbClr val="102B46"/>
                          </a:solidFill>
                        </a:rPr>
                        <a:t>1.696</a:t>
                      </a:r>
                      <a:endParaRPr sz="1725" b="0">
                        <a:solidFill>
                          <a:srgbClr val="102B46"/>
                        </a:solidFill>
                      </a:endParaRPr>
                    </a:p>
                  </a:txBody>
                  <a:tcPr>
                    <a:lnR w="9525">
                      <a:solidFill>
                        <a:srgbClr val="DAE2E8"/>
                      </a:solidFill>
                      <a:prstDash val="solid"/>
                    </a:lnR>
                    <a:lnB w="9525">
                      <a:solidFill>
                        <a:srgbClr val="DAE2E8"/>
                      </a:solidFill>
                      <a:prstDash val="solid"/>
                    </a:lnB>
                    <a:solidFill>
                      <a:srgbClr val="F1F6F8"/>
                    </a:solidFill>
                  </a:tcPr>
                </a:tc>
                <a:tc>
                  <a:txBody>
                    <a:bodyPr/>
                    <a:lstStyle/>
                    <a:p>
                      <a:r>
                        <a:rPr sz="1725" b="0">
                          <a:solidFill>
                            <a:srgbClr val="102B46"/>
                          </a:solidFill>
                        </a:rPr>
                        <a:t>99.8246%</a:t>
                      </a:r>
                      <a:endParaRPr sz="1725" b="0">
                        <a:solidFill>
                          <a:srgbClr val="102B46"/>
                        </a:solidFill>
                      </a:endParaRPr>
                    </a:p>
                  </a:txBody>
                  <a:tcPr>
                    <a:lnR w="9525">
                      <a:solidFill>
                        <a:srgbClr val="DAE2E8"/>
                      </a:solidFill>
                      <a:prstDash val="solid"/>
                    </a:lnR>
                    <a:lnB w="9525">
                      <a:solidFill>
                        <a:srgbClr val="DAE2E8"/>
                      </a:solidFill>
                      <a:prstDash val="solid"/>
                    </a:lnB>
                    <a:solidFill>
                      <a:srgbClr val="F1F6F8"/>
                    </a:solidFill>
                  </a:tcPr>
                </a:tc>
                <a:tc>
                  <a:txBody>
                    <a:bodyPr/>
                    <a:lstStyle/>
                    <a:p>
                      <a:r>
                        <a:rPr sz="1725" b="0">
                          <a:solidFill>
                            <a:srgbClr val="102B46"/>
                          </a:solidFill>
                        </a:rPr>
                        <a:t>2</a:t>
                      </a:r>
                      <a:endParaRPr sz="1725" b="0">
                        <a:solidFill>
                          <a:srgbClr val="102B46"/>
                        </a:solidFill>
                      </a:endParaRPr>
                    </a:p>
                  </a:txBody>
                  <a:tcPr>
                    <a:lnR w="9525">
                      <a:solidFill>
                        <a:srgbClr val="DAE2E8"/>
                      </a:solidFill>
                      <a:prstDash val="solid"/>
                    </a:lnR>
                    <a:lnB w="9525">
                      <a:solidFill>
                        <a:srgbClr val="DAE2E8"/>
                      </a:solidFill>
                      <a:prstDash val="solid"/>
                    </a:lnB>
                    <a:solidFill>
                      <a:srgbClr val="F1F6F8"/>
                    </a:solidFill>
                  </a:tcPr>
                </a:tc>
              </a:tr>
              <a:tr h="485775">
                <a:tc>
                  <a:txBody>
                    <a:bodyPr/>
                    <a:lstStyle/>
                    <a:p>
                      <a:r>
                        <a:rPr sz="1725" b="0">
                          <a:solidFill>
                            <a:srgbClr val="102B46"/>
                          </a:solidFill>
                        </a:rPr>
                        <a:t>v2 / D2</a:t>
                      </a:r>
                      <a:endParaRPr sz="1725" b="0">
                        <a:solidFill>
                          <a:srgbClr val="102B46"/>
                        </a:solidFill>
                      </a:endParaRPr>
                    </a:p>
                  </a:txBody>
                  <a:tcPr>
                    <a:lnL w="9525">
                      <a:solidFill>
                        <a:srgbClr val="DAE2E8"/>
                      </a:solidFill>
                      <a:prstDash val="solid"/>
                    </a:lnL>
                    <a:lnR w="9525">
                      <a:solidFill>
                        <a:srgbClr val="DAE2E8"/>
                      </a:solidFill>
                      <a:prstDash val="solid"/>
                    </a:lnR>
                    <a:lnB w="9525">
                      <a:solidFill>
                        <a:srgbClr val="DAE2E8"/>
                      </a:solidFill>
                      <a:prstDash val="solid"/>
                    </a:lnB>
                    <a:solidFill>
                      <a:srgbClr val="FFFFFF"/>
                    </a:solidFill>
                  </a:tcPr>
                </a:tc>
                <a:tc>
                  <a:txBody>
                    <a:bodyPr/>
                    <a:lstStyle/>
                    <a:p>
                      <a:r>
                        <a:rPr sz="1725" b="0">
                          <a:solidFill>
                            <a:srgbClr val="102B46"/>
                          </a:solidFill>
                        </a:rPr>
                        <a:t>1.440</a:t>
                      </a:r>
                      <a:endParaRPr sz="1725" b="0">
                        <a:solidFill>
                          <a:srgbClr val="102B46"/>
                        </a:solidFill>
                      </a:endParaRPr>
                    </a:p>
                  </a:txBody>
                  <a:tcPr>
                    <a:lnR w="9525">
                      <a:solidFill>
                        <a:srgbClr val="DAE2E8"/>
                      </a:solidFill>
                      <a:prstDash val="solid"/>
                    </a:lnR>
                    <a:lnB w="9525">
                      <a:solidFill>
                        <a:srgbClr val="DAE2E8"/>
                      </a:solidFill>
                      <a:prstDash val="solid"/>
                    </a:lnB>
                    <a:solidFill>
                      <a:srgbClr val="FFFFFF"/>
                    </a:solidFill>
                  </a:tcPr>
                </a:tc>
                <a:tc>
                  <a:txBody>
                    <a:bodyPr/>
                    <a:lstStyle/>
                    <a:p>
                      <a:r>
                        <a:rPr sz="1725" b="0">
                          <a:solidFill>
                            <a:srgbClr val="102B46"/>
                          </a:solidFill>
                        </a:rPr>
                        <a:t>1.640</a:t>
                      </a:r>
                      <a:endParaRPr sz="1725" b="0">
                        <a:solidFill>
                          <a:srgbClr val="102B46"/>
                        </a:solidFill>
                      </a:endParaRPr>
                    </a:p>
                  </a:txBody>
                  <a:tcPr>
                    <a:lnR w="9525">
                      <a:solidFill>
                        <a:srgbClr val="DAE2E8"/>
                      </a:solidFill>
                      <a:prstDash val="solid"/>
                    </a:lnR>
                    <a:lnB w="9525">
                      <a:solidFill>
                        <a:srgbClr val="DAE2E8"/>
                      </a:solidFill>
                      <a:prstDash val="solid"/>
                    </a:lnB>
                    <a:solidFill>
                      <a:srgbClr val="FFFFFF"/>
                    </a:solidFill>
                  </a:tcPr>
                </a:tc>
                <a:tc>
                  <a:txBody>
                    <a:bodyPr/>
                    <a:lstStyle/>
                    <a:p>
                      <a:r>
                        <a:rPr sz="1725" b="0">
                          <a:solidFill>
                            <a:srgbClr val="102B46"/>
                          </a:solidFill>
                        </a:rPr>
                        <a:t>99.8231%</a:t>
                      </a:r>
                      <a:endParaRPr sz="1725" b="0">
                        <a:solidFill>
                          <a:srgbClr val="102B46"/>
                        </a:solidFill>
                      </a:endParaRPr>
                    </a:p>
                  </a:txBody>
                  <a:tcPr>
                    <a:lnR w="9525">
                      <a:solidFill>
                        <a:srgbClr val="DAE2E8"/>
                      </a:solidFill>
                      <a:prstDash val="solid"/>
                    </a:lnR>
                    <a:lnB w="9525">
                      <a:solidFill>
                        <a:srgbClr val="DAE2E8"/>
                      </a:solidFill>
                      <a:prstDash val="solid"/>
                    </a:lnB>
                    <a:solidFill>
                      <a:srgbClr val="FFFFFF"/>
                    </a:solidFill>
                  </a:tcPr>
                </a:tc>
                <a:tc>
                  <a:txBody>
                    <a:bodyPr/>
                    <a:lstStyle/>
                    <a:p>
                      <a:r>
                        <a:rPr sz="1725" b="0">
                          <a:solidFill>
                            <a:srgbClr val="102B46"/>
                          </a:solidFill>
                        </a:rPr>
                        <a:t>5</a:t>
                      </a:r>
                      <a:endParaRPr sz="1725" b="0">
                        <a:solidFill>
                          <a:srgbClr val="102B46"/>
                        </a:solidFill>
                      </a:endParaRPr>
                    </a:p>
                  </a:txBody>
                  <a:tcPr>
                    <a:lnR w="9525">
                      <a:solidFill>
                        <a:srgbClr val="DAE2E8"/>
                      </a:solidFill>
                      <a:prstDash val="solid"/>
                    </a:lnR>
                    <a:lnB w="9525">
                      <a:solidFill>
                        <a:srgbClr val="DAE2E8"/>
                      </a:solidFill>
                      <a:prstDash val="solid"/>
                    </a:lnB>
                    <a:solidFill>
                      <a:srgbClr val="FFFFFF"/>
                    </a:solidFill>
                  </a:tcPr>
                </a:tc>
              </a:tr>
            </a:tbl>
          </a:graphicData>
        </a:graphic>
      </p:graphicFrame>
      <p:pic>
        <p:nvPicPr>
          <p:cNvPr id="4" name="图片 3"/>
          <p:cNvPicPr>
            <a:picLocks noChangeAspect="1"/>
          </p:cNvPicPr>
          <p:nvPr/>
        </p:nvPicPr>
        <p:blipFill>
          <a:blip r:embed="rId1"/>
          <a:stretch>
            <a:fillRect/>
          </a:stretch>
        </p:blipFill>
        <p:spPr>
          <a:xfrm>
            <a:off x="2032000" y="3000375"/>
            <a:ext cx="8128000" cy="3048000"/>
          </a:xfrm>
          <a:prstGeom prst="rect">
            <a:avLst/>
          </a:prstGeom>
        </p:spPr>
      </p:pic>
      <p:sp>
        <p:nvSpPr>
          <p:cNvPr id="5" name="矩形 4"/>
          <p:cNvSpPr>
            <a:spLocks noGrp="1"/>
          </p:cNvSpPr>
          <p:nvPr/>
        </p:nvSpPr>
        <p:spPr>
          <a:xfrm>
            <a:off x="666750" y="6134100"/>
            <a:ext cx="10858500" cy="333375"/>
          </a:xfrm>
          <a:prstGeom prst="rect">
            <a:avLst/>
          </a:prstGeom>
          <a:noFill/>
          <a:ln w="0">
            <a:noFill/>
          </a:ln>
        </p:spPr>
        <p:txBody>
          <a:bodyPr/>
          <a:lstStyle>
            <a:defPPr>
              <a:defRPr sz="1725" b="0">
                <a:solidFill>
                  <a:srgbClr val="526574"/>
                </a:solidFill>
              </a:defRPr>
            </a:defPPr>
            <a:lvl1pPr>
              <a:defRPr sz="1725" b="0">
                <a:solidFill>
                  <a:srgbClr val="526574"/>
                </a:solidFill>
              </a:defRPr>
            </a:lvl1pPr>
            <a:lvl2pPr>
              <a:defRPr sz="1725" b="0">
                <a:solidFill>
                  <a:srgbClr val="526574"/>
                </a:solidFill>
              </a:defRPr>
            </a:lvl2pPr>
            <a:lvl3pPr>
              <a:defRPr sz="1725" b="0">
                <a:solidFill>
                  <a:srgbClr val="526574"/>
                </a:solidFill>
              </a:defRPr>
            </a:lvl3pPr>
            <a:lvl4pPr>
              <a:defRPr sz="1725" b="0">
                <a:solidFill>
                  <a:srgbClr val="526574"/>
                </a:solidFill>
              </a:defRPr>
            </a:lvl4pPr>
            <a:lvl5pPr>
              <a:defRPr sz="1725" b="0">
                <a:solidFill>
                  <a:srgbClr val="526574"/>
                </a:solidFill>
              </a:defRPr>
            </a:lvl5pPr>
            <a:lvl6pPr>
              <a:defRPr sz="1725" b="0">
                <a:solidFill>
                  <a:srgbClr val="526574"/>
                </a:solidFill>
              </a:defRPr>
            </a:lvl6pPr>
            <a:lvl7pPr>
              <a:defRPr sz="1725" b="0">
                <a:solidFill>
                  <a:srgbClr val="526574"/>
                </a:solidFill>
              </a:defRPr>
            </a:lvl7pPr>
            <a:lvl8pPr>
              <a:defRPr sz="1725" b="0">
                <a:solidFill>
                  <a:srgbClr val="526574"/>
                </a:solidFill>
              </a:defRPr>
            </a:lvl8pPr>
            <a:lvl9pPr>
              <a:defRPr sz="1725" b="0">
                <a:solidFill>
                  <a:srgbClr val="526574"/>
                </a:solidFill>
              </a:defRPr>
            </a:lvl9pPr>
          </a:lstStyle>
          <a:p>
            <a:pPr>
              <a:defRPr sz="1725" b="0">
                <a:solidFill>
                  <a:srgbClr val="526574"/>
                </a:solidFill>
              </a:defRPr>
            </a:pPr>
            <a:r>
              <a:rPr sz="1725" b="0">
                <a:solidFill>
                  <a:srgbClr val="526574"/>
                </a:solidFill>
              </a:rPr>
              <a:t>蓝线：最好已遇设计    橙线：最终评估均值</a:t>
            </a:r>
            <a:endParaRPr sz="1725" b="0">
              <a:solidFill>
                <a:srgbClr val="526574"/>
              </a:solidFill>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9" name="矩形 8"/>
          <p:cNvSpPr>
            <a:spLocks noGrp="1"/>
          </p:cNvSpPr>
          <p:nvPr/>
        </p:nvSpPr>
        <p:spPr>
          <a:xfrm>
            <a:off x="571500" y="381000"/>
            <a:ext cx="11049000" cy="762000"/>
          </a:xfrm>
          <a:prstGeom prst="rect">
            <a:avLst/>
          </a:prstGeom>
          <a:noFill/>
          <a:ln w="0">
            <a:noFill/>
          </a:ln>
        </p:spPr>
        <p:txBody>
          <a:bodyPr/>
          <a:lstStyle>
            <a:defPPr>
              <a:defRPr sz="3225" b="1">
                <a:solidFill>
                  <a:srgbClr val="102B46"/>
                </a:solidFill>
              </a:defRPr>
            </a:defPPr>
            <a:lvl1pPr>
              <a:defRPr sz="3225" b="1">
                <a:solidFill>
                  <a:srgbClr val="102B46"/>
                </a:solidFill>
              </a:defRPr>
            </a:lvl1pPr>
            <a:lvl2pPr>
              <a:defRPr sz="3225" b="1">
                <a:solidFill>
                  <a:srgbClr val="102B46"/>
                </a:solidFill>
              </a:defRPr>
            </a:lvl2pPr>
            <a:lvl3pPr>
              <a:defRPr sz="3225" b="1">
                <a:solidFill>
                  <a:srgbClr val="102B46"/>
                </a:solidFill>
              </a:defRPr>
            </a:lvl3pPr>
            <a:lvl4pPr>
              <a:defRPr sz="3225" b="1">
                <a:solidFill>
                  <a:srgbClr val="102B46"/>
                </a:solidFill>
              </a:defRPr>
            </a:lvl4pPr>
            <a:lvl5pPr>
              <a:defRPr sz="3225" b="1">
                <a:solidFill>
                  <a:srgbClr val="102B46"/>
                </a:solidFill>
              </a:defRPr>
            </a:lvl5pPr>
            <a:lvl6pPr>
              <a:defRPr sz="3225" b="1">
                <a:solidFill>
                  <a:srgbClr val="102B46"/>
                </a:solidFill>
              </a:defRPr>
            </a:lvl6pPr>
            <a:lvl7pPr>
              <a:defRPr sz="3225" b="1">
                <a:solidFill>
                  <a:srgbClr val="102B46"/>
                </a:solidFill>
              </a:defRPr>
            </a:lvl7pPr>
            <a:lvl8pPr>
              <a:defRPr sz="3225" b="1">
                <a:solidFill>
                  <a:srgbClr val="102B46"/>
                </a:solidFill>
              </a:defRPr>
            </a:lvl8pPr>
            <a:lvl9pPr>
              <a:defRPr sz="3225" b="1">
                <a:solidFill>
                  <a:srgbClr val="102B46"/>
                </a:solidFill>
              </a:defRPr>
            </a:lvl9pPr>
          </a:lstStyle>
          <a:p>
            <a:pPr>
              <a:defRPr sz="3225" b="1">
                <a:solidFill>
                  <a:srgbClr val="102B46"/>
                </a:solidFill>
              </a:defRPr>
            </a:pPr>
            <a:r>
              <a:rPr sz="3225" b="1">
                <a:solidFill>
                  <a:srgbClr val="102B46"/>
                </a:solidFill>
              </a:rPr>
              <a:t>掩码填槽与奖励调整尚未带来稳定收益</a:t>
            </a:r>
            <a:endParaRPr sz="3225" b="1">
              <a:solidFill>
                <a:srgbClr val="102B46"/>
              </a:solidFill>
            </a:endParaRPr>
          </a:p>
        </p:txBody>
      </p:sp>
      <p:sp>
        <p:nvSpPr>
          <p:cNvPr id="2" name="矩形 1"/>
          <p:cNvSpPr>
            <a:spLocks noGrp="1"/>
          </p:cNvSpPr>
          <p:nvPr/>
        </p:nvSpPr>
        <p:spPr>
          <a:xfrm>
            <a:off x="11144250" y="6381750"/>
            <a:ext cx="476250" cy="257175"/>
          </a:xfrm>
          <a:prstGeom prst="rect">
            <a:avLst/>
          </a:prstGeom>
          <a:noFill/>
          <a:ln w="0">
            <a:noFill/>
          </a:ln>
        </p:spPr>
        <p:txBody>
          <a:bodyPr/>
          <a:lstStyle>
            <a:defPPr>
              <a:defRPr sz="1350" b="0">
                <a:solidFill>
                  <a:srgbClr val="526574"/>
                </a:solidFill>
              </a:defRPr>
            </a:defPPr>
            <a:lvl1pPr>
              <a:defRPr sz="1350" b="0">
                <a:solidFill>
                  <a:srgbClr val="526574"/>
                </a:solidFill>
              </a:defRPr>
            </a:lvl1pPr>
            <a:lvl2pPr>
              <a:defRPr sz="1350" b="0">
                <a:solidFill>
                  <a:srgbClr val="526574"/>
                </a:solidFill>
              </a:defRPr>
            </a:lvl2pPr>
            <a:lvl3pPr>
              <a:defRPr sz="1350" b="0">
                <a:solidFill>
                  <a:srgbClr val="526574"/>
                </a:solidFill>
              </a:defRPr>
            </a:lvl3pPr>
            <a:lvl4pPr>
              <a:defRPr sz="1350" b="0">
                <a:solidFill>
                  <a:srgbClr val="526574"/>
                </a:solidFill>
              </a:defRPr>
            </a:lvl4pPr>
            <a:lvl5pPr>
              <a:defRPr sz="1350" b="0">
                <a:solidFill>
                  <a:srgbClr val="526574"/>
                </a:solidFill>
              </a:defRPr>
            </a:lvl5pPr>
            <a:lvl6pPr>
              <a:defRPr sz="1350" b="0">
                <a:solidFill>
                  <a:srgbClr val="526574"/>
                </a:solidFill>
              </a:defRPr>
            </a:lvl6pPr>
            <a:lvl7pPr>
              <a:defRPr sz="1350" b="0">
                <a:solidFill>
                  <a:srgbClr val="526574"/>
                </a:solidFill>
              </a:defRPr>
            </a:lvl7pPr>
            <a:lvl8pPr>
              <a:defRPr sz="1350" b="0">
                <a:solidFill>
                  <a:srgbClr val="526574"/>
                </a:solidFill>
              </a:defRPr>
            </a:lvl8pPr>
            <a:lvl9pPr>
              <a:defRPr sz="1350" b="0">
                <a:solidFill>
                  <a:srgbClr val="526574"/>
                </a:solidFill>
              </a:defRPr>
            </a:lvl9pPr>
          </a:lstStyle>
          <a:p>
            <a:pPr>
              <a:defRPr sz="1350" b="0">
                <a:solidFill>
                  <a:srgbClr val="526574"/>
                </a:solidFill>
              </a:defRPr>
            </a:pPr>
            <a:r>
              <a:rPr sz="1350" b="0">
                <a:solidFill>
                  <a:srgbClr val="526574"/>
                </a:solidFill>
              </a:rPr>
              <a:t>05</a:t>
            </a:r>
            <a:endParaRPr sz="1350" b="0">
              <a:solidFill>
                <a:srgbClr val="526574"/>
              </a:solidFill>
            </a:endParaRPr>
          </a:p>
        </p:txBody>
      </p:sp>
      <p:pic>
        <p:nvPicPr>
          <p:cNvPr id="3" name="图片 2"/>
          <p:cNvPicPr>
            <a:picLocks noChangeAspect="1"/>
          </p:cNvPicPr>
          <p:nvPr/>
        </p:nvPicPr>
        <p:blipFill>
          <a:blip r:embed="rId1"/>
          <a:stretch>
            <a:fillRect/>
          </a:stretch>
        </p:blipFill>
        <p:spPr>
          <a:xfrm>
            <a:off x="535781" y="1619250"/>
            <a:ext cx="7500938" cy="4000500"/>
          </a:xfrm>
          <a:prstGeom prst="rect">
            <a:avLst/>
          </a:prstGeom>
        </p:spPr>
      </p:pic>
      <p:sp>
        <p:nvSpPr>
          <p:cNvPr id="4" name="矩形 3"/>
          <p:cNvSpPr>
            <a:spLocks noGrp="1"/>
          </p:cNvSpPr>
          <p:nvPr/>
        </p:nvSpPr>
        <p:spPr>
          <a:xfrm>
            <a:off x="8382000" y="1714500"/>
            <a:ext cx="3143250" cy="428625"/>
          </a:xfrm>
          <a:prstGeom prst="rect">
            <a:avLst/>
          </a:prstGeom>
          <a:noFill/>
          <a:ln w="0">
            <a:noFill/>
          </a:ln>
        </p:spPr>
        <p:txBody>
          <a:bodyPr/>
          <a:lstStyle>
            <a:defPPr>
              <a:defRPr sz="2250" b="1">
                <a:solidFill>
                  <a:srgbClr val="176A8A"/>
                </a:solidFill>
              </a:defRPr>
            </a:defPPr>
            <a:lvl1pPr>
              <a:defRPr sz="2250" b="1">
                <a:solidFill>
                  <a:srgbClr val="176A8A"/>
                </a:solidFill>
              </a:defRPr>
            </a:lvl1pPr>
            <a:lvl2pPr>
              <a:defRPr sz="2250" b="1">
                <a:solidFill>
                  <a:srgbClr val="176A8A"/>
                </a:solidFill>
              </a:defRPr>
            </a:lvl2pPr>
            <a:lvl3pPr>
              <a:defRPr sz="2250" b="1">
                <a:solidFill>
                  <a:srgbClr val="176A8A"/>
                </a:solidFill>
              </a:defRPr>
            </a:lvl3pPr>
            <a:lvl4pPr>
              <a:defRPr sz="2250" b="1">
                <a:solidFill>
                  <a:srgbClr val="176A8A"/>
                </a:solidFill>
              </a:defRPr>
            </a:lvl4pPr>
            <a:lvl5pPr>
              <a:defRPr sz="2250" b="1">
                <a:solidFill>
                  <a:srgbClr val="176A8A"/>
                </a:solidFill>
              </a:defRPr>
            </a:lvl5pPr>
            <a:lvl6pPr>
              <a:defRPr sz="2250" b="1">
                <a:solidFill>
                  <a:srgbClr val="176A8A"/>
                </a:solidFill>
              </a:defRPr>
            </a:lvl6pPr>
            <a:lvl7pPr>
              <a:defRPr sz="2250" b="1">
                <a:solidFill>
                  <a:srgbClr val="176A8A"/>
                </a:solidFill>
              </a:defRPr>
            </a:lvl7pPr>
            <a:lvl8pPr>
              <a:defRPr sz="2250" b="1">
                <a:solidFill>
                  <a:srgbClr val="176A8A"/>
                </a:solidFill>
              </a:defRPr>
            </a:lvl8pPr>
            <a:lvl9pPr>
              <a:defRPr sz="2250" b="1">
                <a:solidFill>
                  <a:srgbClr val="176A8A"/>
                </a:solidFill>
              </a:defRPr>
            </a:lvl9pPr>
          </a:lstStyle>
          <a:p>
            <a:pPr>
              <a:defRPr sz="2250" b="1">
                <a:solidFill>
                  <a:srgbClr val="176A8A"/>
                </a:solidFill>
              </a:defRPr>
            </a:pPr>
            <a:r>
              <a:rPr sz="2250" b="1">
                <a:solidFill>
                  <a:srgbClr val="176A8A"/>
                </a:solidFill>
              </a:rPr>
              <a:t>掩码分支</a:t>
            </a:r>
            <a:endParaRPr sz="2250" b="1">
              <a:solidFill>
                <a:srgbClr val="176A8A"/>
              </a:solidFill>
            </a:endParaRPr>
          </a:p>
        </p:txBody>
      </p:sp>
      <p:sp>
        <p:nvSpPr>
          <p:cNvPr id="5" name="矩形 4"/>
          <p:cNvSpPr>
            <a:spLocks noGrp="1"/>
          </p:cNvSpPr>
          <p:nvPr/>
        </p:nvSpPr>
        <p:spPr>
          <a:xfrm>
            <a:off x="8382000" y="2238375"/>
            <a:ext cx="3143250" cy="952500"/>
          </a:xfrm>
          <a:prstGeom prst="rect">
            <a:avLst/>
          </a:prstGeom>
          <a:noFill/>
          <a:ln w="0">
            <a:noFill/>
          </a:ln>
        </p:spPr>
        <p:txBody>
          <a:bodyPr/>
          <a:lstStyle>
            <a:defPPr>
              <a:defRPr sz="2175" b="0">
                <a:solidFill>
                  <a:srgbClr val="102B46"/>
                </a:solidFill>
              </a:defRPr>
            </a:defPPr>
            <a:lvl1pPr>
              <a:defRPr sz="2175" b="0">
                <a:solidFill>
                  <a:srgbClr val="102B46"/>
                </a:solidFill>
              </a:defRPr>
            </a:lvl1pPr>
            <a:lvl2pPr>
              <a:defRPr sz="2175" b="0">
                <a:solidFill>
                  <a:srgbClr val="102B46"/>
                </a:solidFill>
              </a:defRPr>
            </a:lvl2pPr>
            <a:lvl3pPr>
              <a:defRPr sz="2175" b="0">
                <a:solidFill>
                  <a:srgbClr val="102B46"/>
                </a:solidFill>
              </a:defRPr>
            </a:lvl3pPr>
            <a:lvl4pPr>
              <a:defRPr sz="2175" b="0">
                <a:solidFill>
                  <a:srgbClr val="102B46"/>
                </a:solidFill>
              </a:defRPr>
            </a:lvl4pPr>
            <a:lvl5pPr>
              <a:defRPr sz="2175" b="0">
                <a:solidFill>
                  <a:srgbClr val="102B46"/>
                </a:solidFill>
              </a:defRPr>
            </a:lvl5pPr>
            <a:lvl6pPr>
              <a:defRPr sz="2175" b="0">
                <a:solidFill>
                  <a:srgbClr val="102B46"/>
                </a:solidFill>
              </a:defRPr>
            </a:lvl6pPr>
            <a:lvl7pPr>
              <a:defRPr sz="2175" b="0">
                <a:solidFill>
                  <a:srgbClr val="102B46"/>
                </a:solidFill>
              </a:defRPr>
            </a:lvl7pPr>
            <a:lvl8pPr>
              <a:defRPr sz="2175" b="0">
                <a:solidFill>
                  <a:srgbClr val="102B46"/>
                </a:solidFill>
              </a:defRPr>
            </a:lvl8pPr>
            <a:lvl9pPr>
              <a:defRPr sz="2175" b="0">
                <a:solidFill>
                  <a:srgbClr val="102B46"/>
                </a:solidFill>
              </a:defRPr>
            </a:lvl9pPr>
          </a:lstStyle>
          <a:p>
            <a:pPr>
              <a:defRPr sz="2175" b="0">
                <a:solidFill>
                  <a:srgbClr val="102B46"/>
                </a:solidFill>
              </a:defRPr>
            </a:pPr>
            <a:r>
              <a:rPr sz="2175" b="0">
                <a:solidFill>
                  <a:srgbClr val="102B46"/>
                </a:solidFill>
              </a:rPr>
              <a:t>D3 最好平均 T</a:t>
            </a:r>
            <a:endParaRPr sz="2175" b="0">
              <a:solidFill>
                <a:srgbClr val="102B46"/>
              </a:solidFill>
            </a:endParaRPr>
          </a:p>
          <a:p>
            <a:pPr>
              <a:defRPr sz="2175" b="0">
                <a:solidFill>
                  <a:srgbClr val="102B46"/>
                </a:solidFill>
              </a:defRPr>
            </a:pPr>
            <a:r>
              <a:rPr sz="2175" b="0">
                <a:solidFill>
                  <a:srgbClr val="102B46"/>
                </a:solidFill>
              </a:rPr>
              <a:t>99.2787%，6 层</a:t>
            </a:r>
            <a:endParaRPr sz="2175" b="0">
              <a:solidFill>
                <a:srgbClr val="102B46"/>
              </a:solidFill>
            </a:endParaRPr>
          </a:p>
        </p:txBody>
      </p:sp>
      <p:sp>
        <p:nvSpPr>
          <p:cNvPr id="6" name="矩形 5"/>
          <p:cNvSpPr>
            <a:spLocks noGrp="1"/>
          </p:cNvSpPr>
          <p:nvPr/>
        </p:nvSpPr>
        <p:spPr>
          <a:xfrm>
            <a:off x="8382000" y="3571875"/>
            <a:ext cx="3143250" cy="428625"/>
          </a:xfrm>
          <a:prstGeom prst="rect">
            <a:avLst/>
          </a:prstGeom>
          <a:noFill/>
          <a:ln w="0">
            <a:noFill/>
          </a:ln>
        </p:spPr>
        <p:txBody>
          <a:bodyPr/>
          <a:lstStyle>
            <a:defPPr>
              <a:defRPr sz="2100" b="1">
                <a:solidFill>
                  <a:srgbClr val="176A8A"/>
                </a:solidFill>
              </a:defRPr>
            </a:defPPr>
            <a:lvl1pPr>
              <a:defRPr sz="2100" b="1">
                <a:solidFill>
                  <a:srgbClr val="176A8A"/>
                </a:solidFill>
              </a:defRPr>
            </a:lvl1pPr>
            <a:lvl2pPr>
              <a:defRPr sz="2100" b="1">
                <a:solidFill>
                  <a:srgbClr val="176A8A"/>
                </a:solidFill>
              </a:defRPr>
            </a:lvl2pPr>
            <a:lvl3pPr>
              <a:defRPr sz="2100" b="1">
                <a:solidFill>
                  <a:srgbClr val="176A8A"/>
                </a:solidFill>
              </a:defRPr>
            </a:lvl3pPr>
            <a:lvl4pPr>
              <a:defRPr sz="2100" b="1">
                <a:solidFill>
                  <a:srgbClr val="176A8A"/>
                </a:solidFill>
              </a:defRPr>
            </a:lvl4pPr>
            <a:lvl5pPr>
              <a:defRPr sz="2100" b="1">
                <a:solidFill>
                  <a:srgbClr val="176A8A"/>
                </a:solidFill>
              </a:defRPr>
            </a:lvl5pPr>
            <a:lvl6pPr>
              <a:defRPr sz="2100" b="1">
                <a:solidFill>
                  <a:srgbClr val="176A8A"/>
                </a:solidFill>
              </a:defRPr>
            </a:lvl6pPr>
            <a:lvl7pPr>
              <a:defRPr sz="2100" b="1">
                <a:solidFill>
                  <a:srgbClr val="176A8A"/>
                </a:solidFill>
              </a:defRPr>
            </a:lvl7pPr>
            <a:lvl8pPr>
              <a:defRPr sz="2100" b="1">
                <a:solidFill>
                  <a:srgbClr val="176A8A"/>
                </a:solidFill>
              </a:defRPr>
            </a:lvl8pPr>
            <a:lvl9pPr>
              <a:defRPr sz="2100" b="1">
                <a:solidFill>
                  <a:srgbClr val="176A8A"/>
                </a:solidFill>
              </a:defRPr>
            </a:lvl9pPr>
          </a:lstStyle>
          <a:p>
            <a:pPr>
              <a:defRPr sz="2100" b="1">
                <a:solidFill>
                  <a:srgbClr val="176A8A"/>
                </a:solidFill>
              </a:defRPr>
            </a:pPr>
            <a:r>
              <a:rPr lang="zh-CN" sz="2100" b="1">
                <a:solidFill>
                  <a:srgbClr val="176A8A"/>
                </a:solidFill>
              </a:rPr>
              <a:t>原因</a:t>
            </a:r>
            <a:r>
              <a:rPr sz="2100" b="1">
                <a:solidFill>
                  <a:srgbClr val="176A8A"/>
                </a:solidFill>
              </a:rPr>
              <a:t>判断</a:t>
            </a:r>
            <a:endParaRPr sz="2100" b="1">
              <a:solidFill>
                <a:srgbClr val="176A8A"/>
              </a:solidFill>
            </a:endParaRPr>
          </a:p>
        </p:txBody>
      </p:sp>
      <p:sp>
        <p:nvSpPr>
          <p:cNvPr id="7" name="矩形 6"/>
          <p:cNvSpPr>
            <a:spLocks noGrp="1"/>
          </p:cNvSpPr>
          <p:nvPr/>
        </p:nvSpPr>
        <p:spPr>
          <a:xfrm>
            <a:off x="8382000" y="4048125"/>
            <a:ext cx="3143250" cy="904875"/>
          </a:xfrm>
          <a:prstGeom prst="rect">
            <a:avLst/>
          </a:prstGeom>
          <a:noFill/>
          <a:ln w="0">
            <a:noFill/>
          </a:ln>
        </p:spPr>
        <p:txBody>
          <a:bodyPr/>
          <a:lstStyle>
            <a:defPPr>
              <a:defRPr sz="1950" b="0">
                <a:solidFill>
                  <a:srgbClr val="526574"/>
                </a:solidFill>
              </a:defRPr>
            </a:defPPr>
            <a:lvl1pPr>
              <a:defRPr sz="1950" b="0">
                <a:solidFill>
                  <a:srgbClr val="526574"/>
                </a:solidFill>
              </a:defRPr>
            </a:lvl1pPr>
            <a:lvl2pPr>
              <a:defRPr sz="1950" b="0">
                <a:solidFill>
                  <a:srgbClr val="526574"/>
                </a:solidFill>
              </a:defRPr>
            </a:lvl2pPr>
            <a:lvl3pPr>
              <a:defRPr sz="1950" b="0">
                <a:solidFill>
                  <a:srgbClr val="526574"/>
                </a:solidFill>
              </a:defRPr>
            </a:lvl3pPr>
            <a:lvl4pPr>
              <a:defRPr sz="1950" b="0">
                <a:solidFill>
                  <a:srgbClr val="526574"/>
                </a:solidFill>
              </a:defRPr>
            </a:lvl4pPr>
            <a:lvl5pPr>
              <a:defRPr sz="1950" b="0">
                <a:solidFill>
                  <a:srgbClr val="526574"/>
                </a:solidFill>
              </a:defRPr>
            </a:lvl5pPr>
            <a:lvl6pPr>
              <a:defRPr sz="1950" b="0">
                <a:solidFill>
                  <a:srgbClr val="526574"/>
                </a:solidFill>
              </a:defRPr>
            </a:lvl6pPr>
            <a:lvl7pPr>
              <a:defRPr sz="1950" b="0">
                <a:solidFill>
                  <a:srgbClr val="526574"/>
                </a:solidFill>
              </a:defRPr>
            </a:lvl7pPr>
            <a:lvl8pPr>
              <a:defRPr sz="1950" b="0">
                <a:solidFill>
                  <a:srgbClr val="526574"/>
                </a:solidFill>
              </a:defRPr>
            </a:lvl8pPr>
            <a:lvl9pPr>
              <a:defRPr sz="1950" b="0">
                <a:solidFill>
                  <a:srgbClr val="526574"/>
                </a:solidFill>
              </a:defRPr>
            </a:lvl9pPr>
          </a:lstStyle>
          <a:p>
            <a:pPr>
              <a:defRPr sz="1950" b="0">
                <a:solidFill>
                  <a:srgbClr val="526574"/>
                </a:solidFill>
              </a:defRPr>
            </a:pPr>
            <a:r>
              <a:rPr sz="1950" b="0">
                <a:solidFill>
                  <a:srgbClr val="526574"/>
                </a:solidFill>
              </a:rPr>
              <a:t>联合动作空间增大，</a:t>
            </a:r>
            <a:endParaRPr sz="1950" b="0">
              <a:solidFill>
                <a:srgbClr val="526574"/>
              </a:solidFill>
            </a:endParaRPr>
          </a:p>
          <a:p>
            <a:pPr>
              <a:defRPr sz="1950" b="0">
                <a:solidFill>
                  <a:srgbClr val="526574"/>
                </a:solidFill>
              </a:defRPr>
            </a:pPr>
            <a:r>
              <a:rPr sz="1950" b="0">
                <a:solidFill>
                  <a:srgbClr val="526574"/>
                </a:solidFill>
              </a:rPr>
              <a:t>短期搜索更困难</a:t>
            </a:r>
            <a:endParaRPr sz="1950" b="0">
              <a:solidFill>
                <a:srgbClr val="526574"/>
              </a:solidFill>
            </a:endParaRPr>
          </a:p>
        </p:txBody>
      </p:sp>
      <p:sp>
        <p:nvSpPr>
          <p:cNvPr id="8" name="矩形 7"/>
          <p:cNvSpPr>
            <a:spLocks noGrp="1"/>
          </p:cNvSpPr>
          <p:nvPr/>
        </p:nvSpPr>
        <p:spPr>
          <a:xfrm>
            <a:off x="619125" y="5905500"/>
            <a:ext cx="10953750" cy="523875"/>
          </a:xfrm>
          <a:prstGeom prst="rect">
            <a:avLst/>
          </a:prstGeom>
          <a:noFill/>
          <a:ln w="0">
            <a:noFill/>
          </a:ln>
        </p:spPr>
        <p:txBody>
          <a:bodyPr/>
          <a:lstStyle>
            <a:defPPr>
              <a:defRPr sz="1950" b="1">
                <a:solidFill>
                  <a:srgbClr val="B45332"/>
                </a:solidFill>
              </a:defRPr>
            </a:defPPr>
            <a:lvl1pPr>
              <a:defRPr sz="1950" b="1">
                <a:solidFill>
                  <a:srgbClr val="B45332"/>
                </a:solidFill>
              </a:defRPr>
            </a:lvl1pPr>
            <a:lvl2pPr>
              <a:defRPr sz="1950" b="1">
                <a:solidFill>
                  <a:srgbClr val="B45332"/>
                </a:solidFill>
              </a:defRPr>
            </a:lvl2pPr>
            <a:lvl3pPr>
              <a:defRPr sz="1950" b="1">
                <a:solidFill>
                  <a:srgbClr val="B45332"/>
                </a:solidFill>
              </a:defRPr>
            </a:lvl3pPr>
            <a:lvl4pPr>
              <a:defRPr sz="1950" b="1">
                <a:solidFill>
                  <a:srgbClr val="B45332"/>
                </a:solidFill>
              </a:defRPr>
            </a:lvl4pPr>
            <a:lvl5pPr>
              <a:defRPr sz="1950" b="1">
                <a:solidFill>
                  <a:srgbClr val="B45332"/>
                </a:solidFill>
              </a:defRPr>
            </a:lvl5pPr>
            <a:lvl6pPr>
              <a:defRPr sz="1950" b="1">
                <a:solidFill>
                  <a:srgbClr val="B45332"/>
                </a:solidFill>
              </a:defRPr>
            </a:lvl6pPr>
            <a:lvl7pPr>
              <a:defRPr sz="1950" b="1">
                <a:solidFill>
                  <a:srgbClr val="B45332"/>
                </a:solidFill>
              </a:defRPr>
            </a:lvl7pPr>
            <a:lvl8pPr>
              <a:defRPr sz="1950" b="1">
                <a:solidFill>
                  <a:srgbClr val="B45332"/>
                </a:solidFill>
              </a:defRPr>
            </a:lvl8pPr>
            <a:lvl9pPr>
              <a:defRPr sz="1950" b="1">
                <a:solidFill>
                  <a:srgbClr val="B45332"/>
                </a:solidFill>
              </a:defRPr>
            </a:lvl9pPr>
          </a:lstStyle>
          <a:p>
            <a:pPr>
              <a:defRPr sz="1950" b="1">
                <a:solidFill>
                  <a:srgbClr val="B45332"/>
                </a:solidFill>
              </a:defRPr>
            </a:pPr>
            <a:r>
              <a:rPr sz="1950" b="1">
                <a:solidFill>
                  <a:srgbClr val="B45332"/>
                </a:solidFill>
              </a:rPr>
              <a:t>log 奖励与逐步奖励的改善有限，逐步光学评价明显增加耗时</a:t>
            </a:r>
            <a:endParaRPr sz="1950" b="1">
              <a:solidFill>
                <a:srgbClr val="B45332"/>
              </a:solidFill>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6" name="矩形 5"/>
          <p:cNvSpPr>
            <a:spLocks noGrp="1"/>
          </p:cNvSpPr>
          <p:nvPr/>
        </p:nvSpPr>
        <p:spPr>
          <a:xfrm>
            <a:off x="571500" y="381000"/>
            <a:ext cx="11049000" cy="762000"/>
          </a:xfrm>
          <a:prstGeom prst="rect">
            <a:avLst/>
          </a:prstGeom>
          <a:noFill/>
          <a:ln w="0">
            <a:noFill/>
          </a:ln>
        </p:spPr>
        <p:txBody>
          <a:bodyPr/>
          <a:lstStyle>
            <a:defPPr>
              <a:defRPr sz="3225" b="1">
                <a:solidFill>
                  <a:srgbClr val="102B46"/>
                </a:solidFill>
              </a:defRPr>
            </a:defPPr>
            <a:lvl1pPr>
              <a:defRPr sz="3225" b="1">
                <a:solidFill>
                  <a:srgbClr val="102B46"/>
                </a:solidFill>
              </a:defRPr>
            </a:lvl1pPr>
            <a:lvl2pPr>
              <a:defRPr sz="3225" b="1">
                <a:solidFill>
                  <a:srgbClr val="102B46"/>
                </a:solidFill>
              </a:defRPr>
            </a:lvl2pPr>
            <a:lvl3pPr>
              <a:defRPr sz="3225" b="1">
                <a:solidFill>
                  <a:srgbClr val="102B46"/>
                </a:solidFill>
              </a:defRPr>
            </a:lvl3pPr>
            <a:lvl4pPr>
              <a:defRPr sz="3225" b="1">
                <a:solidFill>
                  <a:srgbClr val="102B46"/>
                </a:solidFill>
              </a:defRPr>
            </a:lvl4pPr>
            <a:lvl5pPr>
              <a:defRPr sz="3225" b="1">
                <a:solidFill>
                  <a:srgbClr val="102B46"/>
                </a:solidFill>
              </a:defRPr>
            </a:lvl5pPr>
            <a:lvl6pPr>
              <a:defRPr sz="3225" b="1">
                <a:solidFill>
                  <a:srgbClr val="102B46"/>
                </a:solidFill>
              </a:defRPr>
            </a:lvl6pPr>
            <a:lvl7pPr>
              <a:defRPr sz="3225" b="1">
                <a:solidFill>
                  <a:srgbClr val="102B46"/>
                </a:solidFill>
              </a:defRPr>
            </a:lvl7pPr>
            <a:lvl8pPr>
              <a:defRPr sz="3225" b="1">
                <a:solidFill>
                  <a:srgbClr val="102B46"/>
                </a:solidFill>
              </a:defRPr>
            </a:lvl8pPr>
            <a:lvl9pPr>
              <a:defRPr sz="3225" b="1">
                <a:solidFill>
                  <a:srgbClr val="102B46"/>
                </a:solidFill>
              </a:defRPr>
            </a:lvl9pPr>
          </a:lstStyle>
          <a:p>
            <a:pPr>
              <a:defRPr sz="3225" b="1">
                <a:solidFill>
                  <a:srgbClr val="102B46"/>
                </a:solidFill>
              </a:defRPr>
            </a:pPr>
            <a:r>
              <a:rPr lang="zh-CN" sz="3225" b="1">
                <a:solidFill>
                  <a:srgbClr val="102B46"/>
                </a:solidFill>
              </a:rPr>
              <a:t>二、</a:t>
            </a:r>
            <a:r>
              <a:rPr sz="3225" b="1">
                <a:solidFill>
                  <a:srgbClr val="102B46"/>
                </a:solidFill>
              </a:rPr>
              <a:t>宽带吸收：联合搜索证实当前空间存在更优解</a:t>
            </a:r>
            <a:endParaRPr sz="3225" b="1">
              <a:solidFill>
                <a:srgbClr val="102B46"/>
              </a:solidFill>
            </a:endParaRPr>
          </a:p>
        </p:txBody>
      </p:sp>
      <p:sp>
        <p:nvSpPr>
          <p:cNvPr id="2" name="矩形 1"/>
          <p:cNvSpPr>
            <a:spLocks noGrp="1"/>
          </p:cNvSpPr>
          <p:nvPr/>
        </p:nvSpPr>
        <p:spPr>
          <a:xfrm>
            <a:off x="11144250" y="6381750"/>
            <a:ext cx="476250" cy="257175"/>
          </a:xfrm>
          <a:prstGeom prst="rect">
            <a:avLst/>
          </a:prstGeom>
          <a:noFill/>
          <a:ln w="0">
            <a:noFill/>
          </a:ln>
        </p:spPr>
        <p:txBody>
          <a:bodyPr/>
          <a:lstStyle>
            <a:defPPr>
              <a:defRPr sz="1350" b="0">
                <a:solidFill>
                  <a:srgbClr val="526574"/>
                </a:solidFill>
              </a:defRPr>
            </a:defPPr>
            <a:lvl1pPr>
              <a:defRPr sz="1350" b="0">
                <a:solidFill>
                  <a:srgbClr val="526574"/>
                </a:solidFill>
              </a:defRPr>
            </a:lvl1pPr>
            <a:lvl2pPr>
              <a:defRPr sz="1350" b="0">
                <a:solidFill>
                  <a:srgbClr val="526574"/>
                </a:solidFill>
              </a:defRPr>
            </a:lvl2pPr>
            <a:lvl3pPr>
              <a:defRPr sz="1350" b="0">
                <a:solidFill>
                  <a:srgbClr val="526574"/>
                </a:solidFill>
              </a:defRPr>
            </a:lvl3pPr>
            <a:lvl4pPr>
              <a:defRPr sz="1350" b="0">
                <a:solidFill>
                  <a:srgbClr val="526574"/>
                </a:solidFill>
              </a:defRPr>
            </a:lvl4pPr>
            <a:lvl5pPr>
              <a:defRPr sz="1350" b="0">
                <a:solidFill>
                  <a:srgbClr val="526574"/>
                </a:solidFill>
              </a:defRPr>
            </a:lvl5pPr>
            <a:lvl6pPr>
              <a:defRPr sz="1350" b="0">
                <a:solidFill>
                  <a:srgbClr val="526574"/>
                </a:solidFill>
              </a:defRPr>
            </a:lvl6pPr>
            <a:lvl7pPr>
              <a:defRPr sz="1350" b="0">
                <a:solidFill>
                  <a:srgbClr val="526574"/>
                </a:solidFill>
              </a:defRPr>
            </a:lvl7pPr>
            <a:lvl8pPr>
              <a:defRPr sz="1350" b="0">
                <a:solidFill>
                  <a:srgbClr val="526574"/>
                </a:solidFill>
              </a:defRPr>
            </a:lvl8pPr>
            <a:lvl9pPr>
              <a:defRPr sz="1350" b="0">
                <a:solidFill>
                  <a:srgbClr val="526574"/>
                </a:solidFill>
              </a:defRPr>
            </a:lvl9pPr>
          </a:lstStyle>
          <a:p>
            <a:pPr>
              <a:defRPr sz="1350" b="0">
                <a:solidFill>
                  <a:srgbClr val="526574"/>
                </a:solidFill>
              </a:defRPr>
            </a:pPr>
            <a:r>
              <a:rPr sz="1350" b="0">
                <a:solidFill>
                  <a:srgbClr val="526574"/>
                </a:solidFill>
              </a:rPr>
              <a:t>0</a:t>
            </a:r>
            <a:r>
              <a:rPr lang="en-US" sz="1350" b="0">
                <a:solidFill>
                  <a:srgbClr val="526574"/>
                </a:solidFill>
              </a:rPr>
              <a:t>6</a:t>
            </a:r>
            <a:endParaRPr lang="en-US" sz="1350" b="0">
              <a:solidFill>
                <a:srgbClr val="526574"/>
              </a:solidFill>
            </a:endParaRPr>
          </a:p>
        </p:txBody>
      </p:sp>
      <p:sp>
        <p:nvSpPr>
          <p:cNvPr id="3" name="矩形 2"/>
          <p:cNvSpPr>
            <a:spLocks noGrp="1"/>
          </p:cNvSpPr>
          <p:nvPr/>
        </p:nvSpPr>
        <p:spPr>
          <a:xfrm>
            <a:off x="407670" y="1124585"/>
            <a:ext cx="12094845" cy="571500"/>
          </a:xfrm>
          <a:prstGeom prst="rect">
            <a:avLst/>
          </a:prstGeom>
          <a:noFill/>
          <a:ln w="0">
            <a:noFill/>
          </a:ln>
        </p:spPr>
        <p:txBody>
          <a:bodyPr/>
          <a:lstStyle>
            <a:defPPr>
              <a:defRPr sz="2400" b="1">
                <a:solidFill>
                  <a:srgbClr val="176A8A"/>
                </a:solidFill>
              </a:defRPr>
            </a:defPPr>
            <a:lvl1pPr>
              <a:defRPr sz="2400" b="1">
                <a:solidFill>
                  <a:srgbClr val="176A8A"/>
                </a:solidFill>
              </a:defRPr>
            </a:lvl1pPr>
            <a:lvl2pPr>
              <a:defRPr sz="2400" b="1">
                <a:solidFill>
                  <a:srgbClr val="176A8A"/>
                </a:solidFill>
              </a:defRPr>
            </a:lvl2pPr>
            <a:lvl3pPr>
              <a:defRPr sz="2400" b="1">
                <a:solidFill>
                  <a:srgbClr val="176A8A"/>
                </a:solidFill>
              </a:defRPr>
            </a:lvl3pPr>
            <a:lvl4pPr>
              <a:defRPr sz="2400" b="1">
                <a:solidFill>
                  <a:srgbClr val="176A8A"/>
                </a:solidFill>
              </a:defRPr>
            </a:lvl4pPr>
            <a:lvl5pPr>
              <a:defRPr sz="2400" b="1">
                <a:solidFill>
                  <a:srgbClr val="176A8A"/>
                </a:solidFill>
              </a:defRPr>
            </a:lvl5pPr>
            <a:lvl6pPr>
              <a:defRPr sz="2400" b="1">
                <a:solidFill>
                  <a:srgbClr val="176A8A"/>
                </a:solidFill>
              </a:defRPr>
            </a:lvl6pPr>
            <a:lvl7pPr>
              <a:defRPr sz="2400" b="1">
                <a:solidFill>
                  <a:srgbClr val="176A8A"/>
                </a:solidFill>
              </a:defRPr>
            </a:lvl7pPr>
            <a:lvl8pPr>
              <a:defRPr sz="2400" b="1">
                <a:solidFill>
                  <a:srgbClr val="176A8A"/>
                </a:solidFill>
              </a:defRPr>
            </a:lvl8pPr>
            <a:lvl9pPr>
              <a:defRPr sz="2400" b="1">
                <a:solidFill>
                  <a:srgbClr val="176A8A"/>
                </a:solidFill>
              </a:defRPr>
            </a:lvl9pPr>
          </a:lstStyle>
          <a:p>
            <a:pPr algn="l">
              <a:buClrTx/>
              <a:buSzTx/>
              <a:buFontTx/>
              <a:defRPr sz="2400" b="1">
                <a:solidFill>
                  <a:srgbClr val="176A8A"/>
                </a:solidFill>
              </a:defRPr>
            </a:pPr>
            <a:r>
              <a:rPr lang="zh-CN" altLang="en-US" sz="2400" b="1">
                <a:solidFill>
                  <a:srgbClr val="176A8A"/>
                </a:solidFill>
                <a:ea typeface="宋体" panose="02010600030101010101" pitchFamily="2" charset="-122"/>
              </a:rPr>
              <a:t>baseline：5层 95.37%   原模型：1</a:t>
            </a:r>
            <a:r>
              <a:rPr lang="en-US" altLang="zh-CN" sz="2400" b="1">
                <a:solidFill>
                  <a:srgbClr val="176A8A"/>
                </a:solidFill>
                <a:ea typeface="宋体" panose="02010600030101010101" pitchFamily="2" charset="-122"/>
              </a:rPr>
              <a:t>0</a:t>
            </a:r>
            <a:r>
              <a:rPr lang="zh-CN" altLang="en-US" sz="2400" b="1">
                <a:solidFill>
                  <a:srgbClr val="176A8A"/>
                </a:solidFill>
                <a:ea typeface="宋体" panose="02010600030101010101" pitchFamily="2" charset="-122"/>
              </a:rPr>
              <a:t>层 </a:t>
            </a:r>
            <a:r>
              <a:rPr lang="en-US" altLang="zh-CN" sz="2400" b="1">
                <a:solidFill>
                  <a:srgbClr val="176A8A"/>
                </a:solidFill>
                <a:ea typeface="宋体" panose="02010600030101010101" pitchFamily="2" charset="-122"/>
              </a:rPr>
              <a:t>92.94</a:t>
            </a:r>
            <a:r>
              <a:rPr lang="zh-CN" altLang="en-US" sz="2400" b="1">
                <a:solidFill>
                  <a:srgbClr val="176A8A"/>
                </a:solidFill>
                <a:ea typeface="宋体" panose="02010600030101010101" pitchFamily="2" charset="-122"/>
              </a:rPr>
              <a:t>%   联合搜索：1</a:t>
            </a:r>
            <a:r>
              <a:rPr lang="en-US" altLang="zh-CN" sz="2400" b="1">
                <a:solidFill>
                  <a:srgbClr val="176A8A"/>
                </a:solidFill>
                <a:ea typeface="宋体" panose="02010600030101010101" pitchFamily="2" charset="-122"/>
              </a:rPr>
              <a:t>5</a:t>
            </a:r>
            <a:r>
              <a:rPr lang="zh-CN" altLang="en-US" sz="2400" b="1">
                <a:solidFill>
                  <a:srgbClr val="176A8A"/>
                </a:solidFill>
                <a:ea typeface="宋体" panose="02010600030101010101" pitchFamily="2" charset="-122"/>
              </a:rPr>
              <a:t>层 9</a:t>
            </a:r>
            <a:r>
              <a:rPr lang="en-US" altLang="zh-CN" sz="2400" b="1">
                <a:solidFill>
                  <a:srgbClr val="176A8A"/>
                </a:solidFill>
                <a:ea typeface="宋体" panose="02010600030101010101" pitchFamily="2" charset="-122"/>
              </a:rPr>
              <a:t>9</a:t>
            </a:r>
            <a:r>
              <a:rPr lang="zh-CN" altLang="en-US" sz="2400" b="1">
                <a:solidFill>
                  <a:srgbClr val="176A8A"/>
                </a:solidFill>
                <a:ea typeface="宋体" panose="02010600030101010101" pitchFamily="2" charset="-122"/>
              </a:rPr>
              <a:t>.</a:t>
            </a:r>
            <a:r>
              <a:rPr lang="en-US" altLang="zh-CN" sz="2400" b="1">
                <a:solidFill>
                  <a:srgbClr val="176A8A"/>
                </a:solidFill>
                <a:ea typeface="宋体" panose="02010600030101010101" pitchFamily="2" charset="-122"/>
              </a:rPr>
              <a:t>15</a:t>
            </a:r>
            <a:r>
              <a:rPr lang="zh-CN" altLang="en-US" sz="2400" b="1">
                <a:solidFill>
                  <a:srgbClr val="176A8A"/>
                </a:solidFill>
                <a:ea typeface="宋体" panose="02010600030101010101" pitchFamily="2" charset="-122"/>
              </a:rPr>
              <a:t>%    </a:t>
            </a:r>
            <a:endParaRPr lang="zh-CN" altLang="en-US" sz="2400" b="1">
              <a:solidFill>
                <a:srgbClr val="176A8A"/>
              </a:solidFill>
              <a:ea typeface="宋体" panose="02010600030101010101" pitchFamily="2" charset="-122"/>
            </a:endParaRPr>
          </a:p>
          <a:p>
            <a:pPr algn="l">
              <a:buClrTx/>
              <a:buSzTx/>
              <a:buFontTx/>
              <a:defRPr sz="2400" b="1">
                <a:solidFill>
                  <a:srgbClr val="176A8A"/>
                </a:solidFill>
              </a:defRPr>
            </a:pPr>
            <a:endParaRPr lang="zh-CN" altLang="en-US" sz="2400" b="1">
              <a:solidFill>
                <a:srgbClr val="176A8A"/>
              </a:solidFill>
              <a:ea typeface="宋体" panose="02010600030101010101" pitchFamily="2" charset="-122"/>
            </a:endParaRPr>
          </a:p>
        </p:txBody>
      </p:sp>
      <p:sp>
        <p:nvSpPr>
          <p:cNvPr id="7" name="文本框 6"/>
          <p:cNvSpPr txBox="1"/>
          <p:nvPr/>
        </p:nvSpPr>
        <p:spPr>
          <a:xfrm>
            <a:off x="407670" y="6093460"/>
            <a:ext cx="10736580" cy="460375"/>
          </a:xfrm>
          <a:prstGeom prst="rect">
            <a:avLst/>
          </a:prstGeom>
          <a:noFill/>
        </p:spPr>
        <p:txBody>
          <a:bodyPr wrap="square" rtlCol="0" anchor="t">
            <a:spAutoFit/>
          </a:bodyPr>
          <a:p>
            <a:pPr>
              <a:defRPr sz="3225" b="1">
                <a:solidFill>
                  <a:srgbClr val="102B46"/>
                </a:solidFill>
              </a:defRPr>
            </a:pPr>
            <a:r>
              <a:rPr sz="2400" b="1">
                <a:solidFill>
                  <a:srgbClr val="102B46"/>
                </a:solidFill>
                <a:sym typeface="+mn-ea"/>
              </a:rPr>
              <a:t>HPPO 的</a:t>
            </a:r>
            <a:r>
              <a:rPr lang="zh-CN" sz="2400" b="1">
                <a:solidFill>
                  <a:srgbClr val="102B46"/>
                </a:solidFill>
                <a:sym typeface="+mn-ea"/>
              </a:rPr>
              <a:t>作用</a:t>
            </a:r>
            <a:r>
              <a:rPr sz="2400" b="1">
                <a:solidFill>
                  <a:srgbClr val="102B46"/>
                </a:solidFill>
                <a:sym typeface="+mn-ea"/>
              </a:rPr>
              <a:t>需要在</a:t>
            </a:r>
            <a:r>
              <a:rPr lang="zh-CN" sz="2400" b="1">
                <a:solidFill>
                  <a:srgbClr val="102B46"/>
                </a:solidFill>
                <a:sym typeface="+mn-ea"/>
              </a:rPr>
              <a:t>与随机起点的结构的同时联合搜索预算</a:t>
            </a:r>
            <a:r>
              <a:rPr sz="2400" b="1">
                <a:solidFill>
                  <a:srgbClr val="102B46"/>
                </a:solidFill>
                <a:sym typeface="+mn-ea"/>
              </a:rPr>
              <a:t>下验证</a:t>
            </a:r>
            <a:endParaRPr lang="zh-CN" sz="2400" b="1">
              <a:solidFill>
                <a:srgbClr val="102B46"/>
              </a:solidFill>
              <a:ea typeface="宋体" panose="02010600030101010101" pitchFamily="2" charset="-122"/>
              <a:sym typeface="+mn-ea"/>
            </a:endParaRPr>
          </a:p>
        </p:txBody>
      </p:sp>
      <p:pic>
        <p:nvPicPr>
          <p:cNvPr id="5" name="图片 4"/>
          <p:cNvPicPr>
            <a:picLocks noChangeAspect="1"/>
          </p:cNvPicPr>
          <p:nvPr/>
        </p:nvPicPr>
        <p:blipFill>
          <a:blip r:embed="rId1"/>
          <a:stretch>
            <a:fillRect/>
          </a:stretch>
        </p:blipFill>
        <p:spPr>
          <a:xfrm>
            <a:off x="551180" y="1629410"/>
            <a:ext cx="5433695" cy="2005330"/>
          </a:xfrm>
          <a:prstGeom prst="rect">
            <a:avLst/>
          </a:prstGeom>
        </p:spPr>
      </p:pic>
      <p:pic>
        <p:nvPicPr>
          <p:cNvPr id="8" name="图片 7"/>
          <p:cNvPicPr>
            <a:picLocks noChangeAspect="1"/>
          </p:cNvPicPr>
          <p:nvPr/>
        </p:nvPicPr>
        <p:blipFill>
          <a:blip r:embed="rId2"/>
          <a:stretch>
            <a:fillRect/>
          </a:stretch>
        </p:blipFill>
        <p:spPr>
          <a:xfrm>
            <a:off x="551180" y="3789045"/>
            <a:ext cx="10492740" cy="2131060"/>
          </a:xfrm>
          <a:prstGeom prst="rect">
            <a:avLst/>
          </a:prstGeom>
        </p:spPr>
      </p:pic>
      <p:pic>
        <p:nvPicPr>
          <p:cNvPr id="4" name="图片 3"/>
          <p:cNvPicPr>
            <a:picLocks noChangeAspect="1"/>
          </p:cNvPicPr>
          <p:nvPr/>
        </p:nvPicPr>
        <p:blipFill>
          <a:blip r:embed="rId3"/>
          <a:stretch>
            <a:fillRect/>
          </a:stretch>
        </p:blipFill>
        <p:spPr>
          <a:xfrm>
            <a:off x="6600190" y="1511300"/>
            <a:ext cx="3964305" cy="210439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文本框 1"/>
          <p:cNvSpPr txBox="1"/>
          <p:nvPr/>
        </p:nvSpPr>
        <p:spPr>
          <a:xfrm>
            <a:off x="335280" y="405130"/>
            <a:ext cx="10677525" cy="691515"/>
          </a:xfrm>
          <a:prstGeom prst="rect">
            <a:avLst/>
          </a:prstGeom>
          <a:noFill/>
        </p:spPr>
        <p:txBody>
          <a:bodyPr wrap="square" rtlCol="0">
            <a:spAutoFit/>
          </a:bodyPr>
          <a:p>
            <a:pPr algn="l">
              <a:buClrTx/>
              <a:buSzTx/>
              <a:buFontTx/>
              <a:defRPr sz="1950" b="0">
                <a:solidFill>
                  <a:srgbClr val="102B46"/>
                </a:solidFill>
              </a:defRPr>
            </a:pPr>
            <a:r>
              <a:t>在进行长波段搜索过程中，膜系很难因为调整一次膜系的厚度以及材料就得到比较高的奖励</a:t>
            </a:r>
            <a:r>
              <a:rPr lang="zh-CN">
                <a:ea typeface="宋体" panose="02010600030101010101" pitchFamily="2" charset="-122"/>
              </a:rPr>
              <a:t>，</a:t>
            </a:r>
            <a:r>
              <a:t>因此容易陷入局部最优解的情况，因此需要额外的厚度优化和材料优化以确保找到更优的选择。</a:t>
            </a:r>
          </a:p>
        </p:txBody>
      </p:sp>
      <p:pic>
        <p:nvPicPr>
          <p:cNvPr id="6" name="图片 5"/>
          <p:cNvPicPr>
            <a:picLocks noChangeAspect="1"/>
          </p:cNvPicPr>
          <p:nvPr/>
        </p:nvPicPr>
        <p:blipFill>
          <a:blip r:embed="rId1"/>
          <a:stretch>
            <a:fillRect/>
          </a:stretch>
        </p:blipFill>
        <p:spPr>
          <a:xfrm>
            <a:off x="263525" y="1341120"/>
            <a:ext cx="10984865" cy="4617085"/>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9" name="矩形 8"/>
          <p:cNvSpPr>
            <a:spLocks noGrp="1"/>
          </p:cNvSpPr>
          <p:nvPr/>
        </p:nvSpPr>
        <p:spPr>
          <a:xfrm>
            <a:off x="571500" y="381000"/>
            <a:ext cx="11049000" cy="762000"/>
          </a:xfrm>
          <a:prstGeom prst="rect">
            <a:avLst/>
          </a:prstGeom>
          <a:noFill/>
          <a:ln w="0">
            <a:noFill/>
          </a:ln>
        </p:spPr>
        <p:txBody>
          <a:bodyPr/>
          <a:lstStyle>
            <a:defPPr>
              <a:defRPr sz="3225" b="1">
                <a:solidFill>
                  <a:srgbClr val="102B46"/>
                </a:solidFill>
              </a:defRPr>
            </a:defPPr>
            <a:lvl1pPr>
              <a:defRPr sz="3225" b="1">
                <a:solidFill>
                  <a:srgbClr val="102B46"/>
                </a:solidFill>
              </a:defRPr>
            </a:lvl1pPr>
            <a:lvl2pPr>
              <a:defRPr sz="3225" b="1">
                <a:solidFill>
                  <a:srgbClr val="102B46"/>
                </a:solidFill>
              </a:defRPr>
            </a:lvl2pPr>
            <a:lvl3pPr>
              <a:defRPr sz="3225" b="1">
                <a:solidFill>
                  <a:srgbClr val="102B46"/>
                </a:solidFill>
              </a:defRPr>
            </a:lvl3pPr>
            <a:lvl4pPr>
              <a:defRPr sz="3225" b="1">
                <a:solidFill>
                  <a:srgbClr val="102B46"/>
                </a:solidFill>
              </a:defRPr>
            </a:lvl4pPr>
            <a:lvl5pPr>
              <a:defRPr sz="3225" b="1">
                <a:solidFill>
                  <a:srgbClr val="102B46"/>
                </a:solidFill>
              </a:defRPr>
            </a:lvl5pPr>
            <a:lvl6pPr>
              <a:defRPr sz="3225" b="1">
                <a:solidFill>
                  <a:srgbClr val="102B46"/>
                </a:solidFill>
              </a:defRPr>
            </a:lvl6pPr>
            <a:lvl7pPr>
              <a:defRPr sz="3225" b="1">
                <a:solidFill>
                  <a:srgbClr val="102B46"/>
                </a:solidFill>
              </a:defRPr>
            </a:lvl7pPr>
            <a:lvl8pPr>
              <a:defRPr sz="3225" b="1">
                <a:solidFill>
                  <a:srgbClr val="102B46"/>
                </a:solidFill>
              </a:defRPr>
            </a:lvl8pPr>
            <a:lvl9pPr>
              <a:defRPr sz="3225" b="1">
                <a:solidFill>
                  <a:srgbClr val="102B46"/>
                </a:solidFill>
              </a:defRPr>
            </a:lvl9pPr>
          </a:lstStyle>
          <a:p>
            <a:pPr>
              <a:defRPr sz="3225" b="1">
                <a:solidFill>
                  <a:srgbClr val="102B46"/>
                </a:solidFill>
              </a:defRPr>
            </a:pPr>
            <a:r>
              <a:rPr lang="zh-CN" sz="3225" b="1">
                <a:solidFill>
                  <a:srgbClr val="102B46"/>
                </a:solidFill>
              </a:rPr>
              <a:t>三、</a:t>
            </a:r>
            <a:r>
              <a:rPr sz="3225" b="1">
                <a:solidFill>
                  <a:srgbClr val="102B46"/>
                </a:solidFill>
              </a:rPr>
              <a:t>灯泡任务：先重算论文 42 层结构作为参考</a:t>
            </a:r>
            <a:endParaRPr sz="3225" b="1">
              <a:solidFill>
                <a:srgbClr val="102B46"/>
              </a:solidFill>
            </a:endParaRPr>
          </a:p>
        </p:txBody>
      </p:sp>
      <p:sp>
        <p:nvSpPr>
          <p:cNvPr id="2" name="矩形 1"/>
          <p:cNvSpPr>
            <a:spLocks noGrp="1"/>
          </p:cNvSpPr>
          <p:nvPr/>
        </p:nvSpPr>
        <p:spPr>
          <a:xfrm>
            <a:off x="11144250" y="6381750"/>
            <a:ext cx="476250" cy="257175"/>
          </a:xfrm>
          <a:prstGeom prst="rect">
            <a:avLst/>
          </a:prstGeom>
          <a:noFill/>
          <a:ln w="0">
            <a:noFill/>
          </a:ln>
        </p:spPr>
        <p:txBody>
          <a:bodyPr/>
          <a:lstStyle>
            <a:defPPr>
              <a:defRPr sz="1350" b="0">
                <a:solidFill>
                  <a:srgbClr val="526574"/>
                </a:solidFill>
              </a:defRPr>
            </a:defPPr>
            <a:lvl1pPr>
              <a:defRPr sz="1350" b="0">
                <a:solidFill>
                  <a:srgbClr val="526574"/>
                </a:solidFill>
              </a:defRPr>
            </a:lvl1pPr>
            <a:lvl2pPr>
              <a:defRPr sz="1350" b="0">
                <a:solidFill>
                  <a:srgbClr val="526574"/>
                </a:solidFill>
              </a:defRPr>
            </a:lvl2pPr>
            <a:lvl3pPr>
              <a:defRPr sz="1350" b="0">
                <a:solidFill>
                  <a:srgbClr val="526574"/>
                </a:solidFill>
              </a:defRPr>
            </a:lvl3pPr>
            <a:lvl4pPr>
              <a:defRPr sz="1350" b="0">
                <a:solidFill>
                  <a:srgbClr val="526574"/>
                </a:solidFill>
              </a:defRPr>
            </a:lvl4pPr>
            <a:lvl5pPr>
              <a:defRPr sz="1350" b="0">
                <a:solidFill>
                  <a:srgbClr val="526574"/>
                </a:solidFill>
              </a:defRPr>
            </a:lvl5pPr>
            <a:lvl6pPr>
              <a:defRPr sz="1350" b="0">
                <a:solidFill>
                  <a:srgbClr val="526574"/>
                </a:solidFill>
              </a:defRPr>
            </a:lvl6pPr>
            <a:lvl7pPr>
              <a:defRPr sz="1350" b="0">
                <a:solidFill>
                  <a:srgbClr val="526574"/>
                </a:solidFill>
              </a:defRPr>
            </a:lvl7pPr>
            <a:lvl8pPr>
              <a:defRPr sz="1350" b="0">
                <a:solidFill>
                  <a:srgbClr val="526574"/>
                </a:solidFill>
              </a:defRPr>
            </a:lvl8pPr>
            <a:lvl9pPr>
              <a:defRPr sz="1350" b="0">
                <a:solidFill>
                  <a:srgbClr val="526574"/>
                </a:solidFill>
              </a:defRPr>
            </a:lvl9pPr>
          </a:lstStyle>
          <a:p>
            <a:pPr>
              <a:defRPr sz="1350" b="0">
                <a:solidFill>
                  <a:srgbClr val="526574"/>
                </a:solidFill>
              </a:defRPr>
            </a:pPr>
            <a:r>
              <a:rPr sz="1350" b="0">
                <a:solidFill>
                  <a:srgbClr val="526574"/>
                </a:solidFill>
              </a:rPr>
              <a:t>0</a:t>
            </a:r>
            <a:r>
              <a:rPr lang="en-US" sz="1350" b="0">
                <a:solidFill>
                  <a:srgbClr val="526574"/>
                </a:solidFill>
              </a:rPr>
              <a:t>7</a:t>
            </a:r>
            <a:endParaRPr lang="en-US" sz="1350" b="0">
              <a:solidFill>
                <a:srgbClr val="526574"/>
              </a:solidFill>
            </a:endParaRPr>
          </a:p>
        </p:txBody>
      </p:sp>
      <p:pic>
        <p:nvPicPr>
          <p:cNvPr id="3" name="图片 2"/>
          <p:cNvPicPr>
            <a:picLocks noChangeAspect="1"/>
          </p:cNvPicPr>
          <p:nvPr/>
        </p:nvPicPr>
        <p:blipFill>
          <a:blip r:embed="rId1"/>
          <a:stretch>
            <a:fillRect/>
          </a:stretch>
        </p:blipFill>
        <p:spPr>
          <a:xfrm>
            <a:off x="523875" y="1481870"/>
            <a:ext cx="7334250" cy="4513385"/>
          </a:xfrm>
          <a:prstGeom prst="rect">
            <a:avLst/>
          </a:prstGeom>
        </p:spPr>
      </p:pic>
      <p:sp>
        <p:nvSpPr>
          <p:cNvPr id="4" name="矩形 3"/>
          <p:cNvSpPr>
            <a:spLocks noGrp="1"/>
          </p:cNvSpPr>
          <p:nvPr/>
        </p:nvSpPr>
        <p:spPr>
          <a:xfrm>
            <a:off x="8286750" y="1714500"/>
            <a:ext cx="3238500" cy="428625"/>
          </a:xfrm>
          <a:prstGeom prst="rect">
            <a:avLst/>
          </a:prstGeom>
          <a:noFill/>
          <a:ln w="0">
            <a:noFill/>
          </a:ln>
        </p:spPr>
        <p:txBody>
          <a:bodyPr/>
          <a:lstStyle>
            <a:defPPr>
              <a:defRPr sz="2175" b="1">
                <a:solidFill>
                  <a:srgbClr val="176A8A"/>
                </a:solidFill>
              </a:defRPr>
            </a:defPPr>
            <a:lvl1pPr>
              <a:defRPr sz="2175" b="1">
                <a:solidFill>
                  <a:srgbClr val="176A8A"/>
                </a:solidFill>
              </a:defRPr>
            </a:lvl1pPr>
            <a:lvl2pPr>
              <a:defRPr sz="2175" b="1">
                <a:solidFill>
                  <a:srgbClr val="176A8A"/>
                </a:solidFill>
              </a:defRPr>
            </a:lvl2pPr>
            <a:lvl3pPr>
              <a:defRPr sz="2175" b="1">
                <a:solidFill>
                  <a:srgbClr val="176A8A"/>
                </a:solidFill>
              </a:defRPr>
            </a:lvl3pPr>
            <a:lvl4pPr>
              <a:defRPr sz="2175" b="1">
                <a:solidFill>
                  <a:srgbClr val="176A8A"/>
                </a:solidFill>
              </a:defRPr>
            </a:lvl4pPr>
            <a:lvl5pPr>
              <a:defRPr sz="2175" b="1">
                <a:solidFill>
                  <a:srgbClr val="176A8A"/>
                </a:solidFill>
              </a:defRPr>
            </a:lvl5pPr>
            <a:lvl6pPr>
              <a:defRPr sz="2175" b="1">
                <a:solidFill>
                  <a:srgbClr val="176A8A"/>
                </a:solidFill>
              </a:defRPr>
            </a:lvl6pPr>
            <a:lvl7pPr>
              <a:defRPr sz="2175" b="1">
                <a:solidFill>
                  <a:srgbClr val="176A8A"/>
                </a:solidFill>
              </a:defRPr>
            </a:lvl7pPr>
            <a:lvl8pPr>
              <a:defRPr sz="2175" b="1">
                <a:solidFill>
                  <a:srgbClr val="176A8A"/>
                </a:solidFill>
              </a:defRPr>
            </a:lvl8pPr>
            <a:lvl9pPr>
              <a:defRPr sz="2175" b="1">
                <a:solidFill>
                  <a:srgbClr val="176A8A"/>
                </a:solidFill>
              </a:defRPr>
            </a:lvl9pPr>
          </a:lstStyle>
          <a:p>
            <a:pPr>
              <a:defRPr sz="2175" b="1">
                <a:solidFill>
                  <a:srgbClr val="176A8A"/>
                </a:solidFill>
              </a:defRPr>
            </a:pPr>
            <a:r>
              <a:rPr sz="2175" b="1">
                <a:solidFill>
                  <a:srgbClr val="176A8A"/>
                </a:solidFill>
              </a:rPr>
              <a:t>评估基准</a:t>
            </a:r>
            <a:endParaRPr sz="2175" b="1">
              <a:solidFill>
                <a:srgbClr val="176A8A"/>
              </a:solidFill>
            </a:endParaRPr>
          </a:p>
        </p:txBody>
      </p:sp>
      <p:sp>
        <p:nvSpPr>
          <p:cNvPr id="5" name="矩形 4"/>
          <p:cNvSpPr>
            <a:spLocks noGrp="1"/>
          </p:cNvSpPr>
          <p:nvPr/>
        </p:nvSpPr>
        <p:spPr>
          <a:xfrm>
            <a:off x="8286750" y="2286000"/>
            <a:ext cx="3238500" cy="1476375"/>
          </a:xfrm>
          <a:prstGeom prst="rect">
            <a:avLst/>
          </a:prstGeom>
          <a:noFill/>
          <a:ln w="0">
            <a:noFill/>
          </a:ln>
        </p:spPr>
        <p:txBody>
          <a:bodyPr/>
          <a:lstStyle>
            <a:defPPr>
              <a:defRPr sz="1950" b="0">
                <a:solidFill>
                  <a:srgbClr val="102B46"/>
                </a:solidFill>
              </a:defRPr>
            </a:defPPr>
            <a:lvl1pPr>
              <a:defRPr sz="1950" b="0">
                <a:solidFill>
                  <a:srgbClr val="102B46"/>
                </a:solidFill>
              </a:defRPr>
            </a:lvl1pPr>
            <a:lvl2pPr>
              <a:defRPr sz="1950" b="0">
                <a:solidFill>
                  <a:srgbClr val="102B46"/>
                </a:solidFill>
              </a:defRPr>
            </a:lvl2pPr>
            <a:lvl3pPr>
              <a:defRPr sz="1950" b="0">
                <a:solidFill>
                  <a:srgbClr val="102B46"/>
                </a:solidFill>
              </a:defRPr>
            </a:lvl3pPr>
            <a:lvl4pPr>
              <a:defRPr sz="1950" b="0">
                <a:solidFill>
                  <a:srgbClr val="102B46"/>
                </a:solidFill>
              </a:defRPr>
            </a:lvl4pPr>
            <a:lvl5pPr>
              <a:defRPr sz="1950" b="0">
                <a:solidFill>
                  <a:srgbClr val="102B46"/>
                </a:solidFill>
              </a:defRPr>
            </a:lvl5pPr>
            <a:lvl6pPr>
              <a:defRPr sz="1950" b="0">
                <a:solidFill>
                  <a:srgbClr val="102B46"/>
                </a:solidFill>
              </a:defRPr>
            </a:lvl6pPr>
            <a:lvl7pPr>
              <a:defRPr sz="1950" b="0">
                <a:solidFill>
                  <a:srgbClr val="102B46"/>
                </a:solidFill>
              </a:defRPr>
            </a:lvl7pPr>
            <a:lvl8pPr>
              <a:defRPr sz="1950" b="0">
                <a:solidFill>
                  <a:srgbClr val="102B46"/>
                </a:solidFill>
              </a:defRPr>
            </a:lvl8pPr>
            <a:lvl9pPr>
              <a:defRPr sz="1950" b="0">
                <a:solidFill>
                  <a:srgbClr val="102B46"/>
                </a:solidFill>
              </a:defRPr>
            </a:lvl9pPr>
          </a:lstStyle>
          <a:p>
            <a:pPr>
              <a:defRPr sz="1950" b="0">
                <a:solidFill>
                  <a:srgbClr val="102B46"/>
                </a:solidFill>
              </a:defRPr>
            </a:pPr>
            <a:r>
              <a:rPr sz="1950" b="0">
                <a:solidFill>
                  <a:srgbClr val="102B46"/>
                </a:solidFill>
              </a:rPr>
              <a:t>300–3000 nm</a:t>
            </a:r>
            <a:endParaRPr sz="1950" b="0">
              <a:solidFill>
                <a:srgbClr val="102B46"/>
              </a:solidFill>
            </a:endParaRPr>
          </a:p>
          <a:p>
            <a:pPr>
              <a:defRPr sz="1950" b="0">
                <a:solidFill>
                  <a:srgbClr val="102B46"/>
                </a:solidFill>
              </a:defRPr>
            </a:pPr>
            <a:r>
              <a:rPr sz="1950" b="0">
                <a:solidFill>
                  <a:srgbClr val="102B46"/>
                </a:solidFill>
              </a:rPr>
              <a:t>0–89° 共 90 角度</a:t>
            </a:r>
            <a:endParaRPr sz="1950" b="0">
              <a:solidFill>
                <a:srgbClr val="102B46"/>
              </a:solidFill>
            </a:endParaRPr>
          </a:p>
          <a:p>
            <a:pPr>
              <a:defRPr sz="1950" b="0">
                <a:solidFill>
                  <a:srgbClr val="102B46"/>
                </a:solidFill>
              </a:defRPr>
            </a:pPr>
            <a:r>
              <a:rPr sz="1950" b="0">
                <a:solidFill>
                  <a:srgbClr val="102B46"/>
                </a:solidFill>
              </a:rPr>
              <a:t>s / p 功率平均</a:t>
            </a:r>
            <a:endParaRPr sz="1950" b="0">
              <a:solidFill>
                <a:srgbClr val="102B46"/>
              </a:solidFill>
            </a:endParaRPr>
          </a:p>
        </p:txBody>
      </p:sp>
      <p:sp>
        <p:nvSpPr>
          <p:cNvPr id="6" name="矩形 5"/>
          <p:cNvSpPr>
            <a:spLocks noGrp="1"/>
          </p:cNvSpPr>
          <p:nvPr/>
        </p:nvSpPr>
        <p:spPr>
          <a:xfrm>
            <a:off x="8286750" y="4095750"/>
            <a:ext cx="3238500" cy="428625"/>
          </a:xfrm>
          <a:prstGeom prst="rect">
            <a:avLst/>
          </a:prstGeom>
          <a:noFill/>
          <a:ln w="0">
            <a:noFill/>
          </a:ln>
        </p:spPr>
        <p:txBody>
          <a:bodyPr/>
          <a:lstStyle>
            <a:defPPr>
              <a:defRPr sz="2175" b="1">
                <a:solidFill>
                  <a:srgbClr val="176A8A"/>
                </a:solidFill>
              </a:defRPr>
            </a:defPPr>
            <a:lvl1pPr>
              <a:defRPr sz="2175" b="1">
                <a:solidFill>
                  <a:srgbClr val="176A8A"/>
                </a:solidFill>
              </a:defRPr>
            </a:lvl1pPr>
            <a:lvl2pPr>
              <a:defRPr sz="2175" b="1">
                <a:solidFill>
                  <a:srgbClr val="176A8A"/>
                </a:solidFill>
              </a:defRPr>
            </a:lvl2pPr>
            <a:lvl3pPr>
              <a:defRPr sz="2175" b="1">
                <a:solidFill>
                  <a:srgbClr val="176A8A"/>
                </a:solidFill>
              </a:defRPr>
            </a:lvl3pPr>
            <a:lvl4pPr>
              <a:defRPr sz="2175" b="1">
                <a:solidFill>
                  <a:srgbClr val="176A8A"/>
                </a:solidFill>
              </a:defRPr>
            </a:lvl4pPr>
            <a:lvl5pPr>
              <a:defRPr sz="2175" b="1">
                <a:solidFill>
                  <a:srgbClr val="176A8A"/>
                </a:solidFill>
              </a:defRPr>
            </a:lvl5pPr>
            <a:lvl6pPr>
              <a:defRPr sz="2175" b="1">
                <a:solidFill>
                  <a:srgbClr val="176A8A"/>
                </a:solidFill>
              </a:defRPr>
            </a:lvl6pPr>
            <a:lvl7pPr>
              <a:defRPr sz="2175" b="1">
                <a:solidFill>
                  <a:srgbClr val="176A8A"/>
                </a:solidFill>
              </a:defRPr>
            </a:lvl7pPr>
            <a:lvl8pPr>
              <a:defRPr sz="2175" b="1">
                <a:solidFill>
                  <a:srgbClr val="176A8A"/>
                </a:solidFill>
              </a:defRPr>
            </a:lvl8pPr>
            <a:lvl9pPr>
              <a:defRPr sz="2175" b="1">
                <a:solidFill>
                  <a:srgbClr val="176A8A"/>
                </a:solidFill>
              </a:defRPr>
            </a:lvl9pPr>
          </a:lstStyle>
          <a:p>
            <a:pPr>
              <a:defRPr sz="2175" b="1">
                <a:solidFill>
                  <a:srgbClr val="176A8A"/>
                </a:solidFill>
              </a:defRPr>
            </a:pPr>
            <a:r>
              <a:rPr sz="2175" b="1">
                <a:solidFill>
                  <a:srgbClr val="176A8A"/>
                </a:solidFill>
              </a:rPr>
              <a:t>论文结构</a:t>
            </a:r>
            <a:endParaRPr sz="2175" b="1">
              <a:solidFill>
                <a:srgbClr val="176A8A"/>
              </a:solidFill>
            </a:endParaRPr>
          </a:p>
        </p:txBody>
      </p:sp>
      <p:sp>
        <p:nvSpPr>
          <p:cNvPr id="7" name="矩形 6"/>
          <p:cNvSpPr>
            <a:spLocks noGrp="1"/>
          </p:cNvSpPr>
          <p:nvPr/>
        </p:nvSpPr>
        <p:spPr>
          <a:xfrm>
            <a:off x="8286750" y="4648200"/>
            <a:ext cx="3238500" cy="1000125"/>
          </a:xfrm>
          <a:prstGeom prst="rect">
            <a:avLst/>
          </a:prstGeom>
          <a:noFill/>
          <a:ln w="0">
            <a:noFill/>
          </a:ln>
        </p:spPr>
        <p:txBody>
          <a:bodyPr/>
          <a:lstStyle>
            <a:defPPr>
              <a:defRPr sz="1950" b="0">
                <a:solidFill>
                  <a:srgbClr val="102B46"/>
                </a:solidFill>
              </a:defRPr>
            </a:defPPr>
            <a:lvl1pPr>
              <a:defRPr sz="1950" b="0">
                <a:solidFill>
                  <a:srgbClr val="102B46"/>
                </a:solidFill>
              </a:defRPr>
            </a:lvl1pPr>
            <a:lvl2pPr>
              <a:defRPr sz="1950" b="0">
                <a:solidFill>
                  <a:srgbClr val="102B46"/>
                </a:solidFill>
              </a:defRPr>
            </a:lvl2pPr>
            <a:lvl3pPr>
              <a:defRPr sz="1950" b="0">
                <a:solidFill>
                  <a:srgbClr val="102B46"/>
                </a:solidFill>
              </a:defRPr>
            </a:lvl3pPr>
            <a:lvl4pPr>
              <a:defRPr sz="1950" b="0">
                <a:solidFill>
                  <a:srgbClr val="102B46"/>
                </a:solidFill>
              </a:defRPr>
            </a:lvl4pPr>
            <a:lvl5pPr>
              <a:defRPr sz="1950" b="0">
                <a:solidFill>
                  <a:srgbClr val="102B46"/>
                </a:solidFill>
              </a:defRPr>
            </a:lvl5pPr>
            <a:lvl6pPr>
              <a:defRPr sz="1950" b="0">
                <a:solidFill>
                  <a:srgbClr val="102B46"/>
                </a:solidFill>
              </a:defRPr>
            </a:lvl6pPr>
            <a:lvl7pPr>
              <a:defRPr sz="1950" b="0">
                <a:solidFill>
                  <a:srgbClr val="102B46"/>
                </a:solidFill>
              </a:defRPr>
            </a:lvl7pPr>
            <a:lvl8pPr>
              <a:defRPr sz="1950" b="0">
                <a:solidFill>
                  <a:srgbClr val="102B46"/>
                </a:solidFill>
              </a:defRPr>
            </a:lvl8pPr>
            <a:lvl9pPr>
              <a:defRPr sz="1950" b="0">
                <a:solidFill>
                  <a:srgbClr val="102B46"/>
                </a:solidFill>
              </a:defRPr>
            </a:lvl9pPr>
          </a:lstStyle>
          <a:p>
            <a:pPr>
              <a:defRPr sz="1950" b="0">
                <a:solidFill>
                  <a:srgbClr val="102B46"/>
                </a:solidFill>
              </a:defRPr>
            </a:pPr>
            <a:r>
              <a:rPr sz="1950" b="0">
                <a:solidFill>
                  <a:srgbClr val="102B46"/>
                </a:solidFill>
              </a:rPr>
              <a:t>42 层 / 8.54 μm</a:t>
            </a:r>
            <a:endParaRPr sz="1950" b="0">
              <a:solidFill>
                <a:srgbClr val="102B46"/>
              </a:solidFill>
            </a:endParaRPr>
          </a:p>
          <a:p>
            <a:pPr>
              <a:defRPr sz="1950" b="0">
                <a:solidFill>
                  <a:srgbClr val="102B46"/>
                </a:solidFill>
              </a:defRPr>
            </a:pPr>
            <a:r>
              <a:rPr sz="1950" b="0">
                <a:solidFill>
                  <a:srgbClr val="102B46"/>
                </a:solidFill>
              </a:rPr>
              <a:t>按当前数据重新计算</a:t>
            </a:r>
            <a:endParaRPr sz="1950" b="0">
              <a:solidFill>
                <a:srgbClr val="102B46"/>
              </a:solidFill>
            </a:endParaRPr>
          </a:p>
        </p:txBody>
      </p:sp>
      <p:sp>
        <p:nvSpPr>
          <p:cNvPr id="8" name="矩形 7"/>
          <p:cNvSpPr>
            <a:spLocks noGrp="1"/>
          </p:cNvSpPr>
          <p:nvPr/>
        </p:nvSpPr>
        <p:spPr>
          <a:xfrm>
            <a:off x="619125" y="6115050"/>
            <a:ext cx="10953750" cy="342900"/>
          </a:xfrm>
          <a:prstGeom prst="rect">
            <a:avLst/>
          </a:prstGeom>
          <a:noFill/>
          <a:ln w="0">
            <a:noFill/>
          </a:ln>
        </p:spPr>
        <p:txBody>
          <a:bodyPr/>
          <a:lstStyle>
            <a:defPPr>
              <a:defRPr sz="1725" b="0">
                <a:solidFill>
                  <a:srgbClr val="526574"/>
                </a:solidFill>
              </a:defRPr>
            </a:defPPr>
            <a:lvl1pPr>
              <a:defRPr sz="1725" b="0">
                <a:solidFill>
                  <a:srgbClr val="526574"/>
                </a:solidFill>
              </a:defRPr>
            </a:lvl1pPr>
            <a:lvl2pPr>
              <a:defRPr sz="1725" b="0">
                <a:solidFill>
                  <a:srgbClr val="526574"/>
                </a:solidFill>
              </a:defRPr>
            </a:lvl2pPr>
            <a:lvl3pPr>
              <a:defRPr sz="1725" b="0">
                <a:solidFill>
                  <a:srgbClr val="526574"/>
                </a:solidFill>
              </a:defRPr>
            </a:lvl3pPr>
            <a:lvl4pPr>
              <a:defRPr sz="1725" b="0">
                <a:solidFill>
                  <a:srgbClr val="526574"/>
                </a:solidFill>
              </a:defRPr>
            </a:lvl4pPr>
            <a:lvl5pPr>
              <a:defRPr sz="1725" b="0">
                <a:solidFill>
                  <a:srgbClr val="526574"/>
                </a:solidFill>
              </a:defRPr>
            </a:lvl5pPr>
            <a:lvl6pPr>
              <a:defRPr sz="1725" b="0">
                <a:solidFill>
                  <a:srgbClr val="526574"/>
                </a:solidFill>
              </a:defRPr>
            </a:lvl6pPr>
            <a:lvl7pPr>
              <a:defRPr sz="1725" b="0">
                <a:solidFill>
                  <a:srgbClr val="526574"/>
                </a:solidFill>
              </a:defRPr>
            </a:lvl7pPr>
            <a:lvl8pPr>
              <a:defRPr sz="1725" b="0">
                <a:solidFill>
                  <a:srgbClr val="526574"/>
                </a:solidFill>
              </a:defRPr>
            </a:lvl8pPr>
            <a:lvl9pPr>
              <a:defRPr sz="1725" b="0">
                <a:solidFill>
                  <a:srgbClr val="526574"/>
                </a:solidFill>
              </a:defRPr>
            </a:lvl9pPr>
          </a:lstStyle>
          <a:p>
            <a:pPr>
              <a:defRPr sz="1725" b="0">
                <a:solidFill>
                  <a:srgbClr val="526574"/>
                </a:solidFill>
              </a:defRPr>
            </a:pPr>
            <a:r>
              <a:rPr sz="1725" b="0">
                <a:solidFill>
                  <a:srgbClr val="526574"/>
                </a:solidFill>
              </a:rPr>
              <a:t>图中改变 k 或偏振的曲线为诊断对照，不作为最终配置</a:t>
            </a:r>
            <a:endParaRPr sz="1725" b="0">
              <a:solidFill>
                <a:srgbClr val="526574"/>
              </a:solidFill>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6" name="矩形 5"/>
          <p:cNvSpPr>
            <a:spLocks noGrp="1"/>
          </p:cNvSpPr>
          <p:nvPr/>
        </p:nvSpPr>
        <p:spPr>
          <a:xfrm>
            <a:off x="571500" y="260350"/>
            <a:ext cx="11049000" cy="762000"/>
          </a:xfrm>
          <a:prstGeom prst="rect">
            <a:avLst/>
          </a:prstGeom>
          <a:noFill/>
          <a:ln w="0">
            <a:noFill/>
          </a:ln>
        </p:spPr>
        <p:txBody>
          <a:bodyPr/>
          <a:lstStyle>
            <a:defPPr>
              <a:defRPr sz="3225" b="1">
                <a:solidFill>
                  <a:srgbClr val="102B46"/>
                </a:solidFill>
              </a:defRPr>
            </a:defPPr>
            <a:lvl1pPr>
              <a:defRPr sz="3225" b="1">
                <a:solidFill>
                  <a:srgbClr val="102B46"/>
                </a:solidFill>
              </a:defRPr>
            </a:lvl1pPr>
            <a:lvl2pPr>
              <a:defRPr sz="3225" b="1">
                <a:solidFill>
                  <a:srgbClr val="102B46"/>
                </a:solidFill>
              </a:defRPr>
            </a:lvl2pPr>
            <a:lvl3pPr>
              <a:defRPr sz="3225" b="1">
                <a:solidFill>
                  <a:srgbClr val="102B46"/>
                </a:solidFill>
              </a:defRPr>
            </a:lvl3pPr>
            <a:lvl4pPr>
              <a:defRPr sz="3225" b="1">
                <a:solidFill>
                  <a:srgbClr val="102B46"/>
                </a:solidFill>
              </a:defRPr>
            </a:lvl4pPr>
            <a:lvl5pPr>
              <a:defRPr sz="3225" b="1">
                <a:solidFill>
                  <a:srgbClr val="102B46"/>
                </a:solidFill>
              </a:defRPr>
            </a:lvl5pPr>
            <a:lvl6pPr>
              <a:defRPr sz="3225" b="1">
                <a:solidFill>
                  <a:srgbClr val="102B46"/>
                </a:solidFill>
              </a:defRPr>
            </a:lvl6pPr>
            <a:lvl7pPr>
              <a:defRPr sz="3225" b="1">
                <a:solidFill>
                  <a:srgbClr val="102B46"/>
                </a:solidFill>
              </a:defRPr>
            </a:lvl7pPr>
            <a:lvl8pPr>
              <a:defRPr sz="3225" b="1">
                <a:solidFill>
                  <a:srgbClr val="102B46"/>
                </a:solidFill>
              </a:defRPr>
            </a:lvl8pPr>
            <a:lvl9pPr>
              <a:defRPr sz="3225" b="1">
                <a:solidFill>
                  <a:srgbClr val="102B46"/>
                </a:solidFill>
              </a:defRPr>
            </a:lvl9pPr>
          </a:lstStyle>
          <a:p>
            <a:pPr>
              <a:defRPr sz="3225" b="1">
                <a:solidFill>
                  <a:srgbClr val="102B46"/>
                </a:solidFill>
              </a:defRPr>
            </a:pPr>
            <a:r>
              <a:rPr sz="3225" b="1">
                <a:solidFill>
                  <a:srgbClr val="102B46"/>
                </a:solidFill>
              </a:rPr>
              <a:t>实验暴露</a:t>
            </a:r>
            <a:r>
              <a:rPr lang="zh-CN" sz="3225" b="1">
                <a:solidFill>
                  <a:srgbClr val="102B46"/>
                </a:solidFill>
              </a:rPr>
              <a:t>多目标对训练带来的</a:t>
            </a:r>
            <a:r>
              <a:rPr lang="zh-CN" sz="3225" b="1">
                <a:solidFill>
                  <a:srgbClr val="102B46"/>
                </a:solidFill>
              </a:rPr>
              <a:t>影响</a:t>
            </a:r>
            <a:endParaRPr lang="zh-CN" sz="3225" b="1">
              <a:solidFill>
                <a:srgbClr val="102B46"/>
              </a:solidFill>
            </a:endParaRPr>
          </a:p>
        </p:txBody>
      </p:sp>
      <p:sp>
        <p:nvSpPr>
          <p:cNvPr id="2" name="矩形 1"/>
          <p:cNvSpPr>
            <a:spLocks noGrp="1"/>
          </p:cNvSpPr>
          <p:nvPr/>
        </p:nvSpPr>
        <p:spPr>
          <a:xfrm>
            <a:off x="11135995" y="6381115"/>
            <a:ext cx="476250" cy="257175"/>
          </a:xfrm>
          <a:prstGeom prst="rect">
            <a:avLst/>
          </a:prstGeom>
          <a:noFill/>
          <a:ln w="0">
            <a:noFill/>
          </a:ln>
        </p:spPr>
        <p:txBody>
          <a:bodyPr/>
          <a:lstStyle>
            <a:defPPr>
              <a:defRPr sz="1350" b="0">
                <a:solidFill>
                  <a:srgbClr val="526574"/>
                </a:solidFill>
              </a:defRPr>
            </a:defPPr>
            <a:lvl1pPr>
              <a:defRPr sz="1350" b="0">
                <a:solidFill>
                  <a:srgbClr val="526574"/>
                </a:solidFill>
              </a:defRPr>
            </a:lvl1pPr>
            <a:lvl2pPr>
              <a:defRPr sz="1350" b="0">
                <a:solidFill>
                  <a:srgbClr val="526574"/>
                </a:solidFill>
              </a:defRPr>
            </a:lvl2pPr>
            <a:lvl3pPr>
              <a:defRPr sz="1350" b="0">
                <a:solidFill>
                  <a:srgbClr val="526574"/>
                </a:solidFill>
              </a:defRPr>
            </a:lvl3pPr>
            <a:lvl4pPr>
              <a:defRPr sz="1350" b="0">
                <a:solidFill>
                  <a:srgbClr val="526574"/>
                </a:solidFill>
              </a:defRPr>
            </a:lvl4pPr>
            <a:lvl5pPr>
              <a:defRPr sz="1350" b="0">
                <a:solidFill>
                  <a:srgbClr val="526574"/>
                </a:solidFill>
              </a:defRPr>
            </a:lvl5pPr>
            <a:lvl6pPr>
              <a:defRPr sz="1350" b="0">
                <a:solidFill>
                  <a:srgbClr val="526574"/>
                </a:solidFill>
              </a:defRPr>
            </a:lvl6pPr>
            <a:lvl7pPr>
              <a:defRPr sz="1350" b="0">
                <a:solidFill>
                  <a:srgbClr val="526574"/>
                </a:solidFill>
              </a:defRPr>
            </a:lvl7pPr>
            <a:lvl8pPr>
              <a:defRPr sz="1350" b="0">
                <a:solidFill>
                  <a:srgbClr val="526574"/>
                </a:solidFill>
              </a:defRPr>
            </a:lvl8pPr>
            <a:lvl9pPr>
              <a:defRPr sz="1350" b="0">
                <a:solidFill>
                  <a:srgbClr val="526574"/>
                </a:solidFill>
              </a:defRPr>
            </a:lvl9pPr>
          </a:lstStyle>
          <a:p>
            <a:pPr>
              <a:defRPr sz="1350" b="0">
                <a:solidFill>
                  <a:srgbClr val="526574"/>
                </a:solidFill>
              </a:defRPr>
            </a:pPr>
            <a:r>
              <a:rPr lang="en-US" sz="1350" b="0">
                <a:solidFill>
                  <a:srgbClr val="526574"/>
                </a:solidFill>
              </a:rPr>
              <a:t>8</a:t>
            </a:r>
            <a:endParaRPr lang="en-US" sz="1350" b="0">
              <a:solidFill>
                <a:srgbClr val="526574"/>
              </a:solidFill>
            </a:endParaRPr>
          </a:p>
        </p:txBody>
      </p:sp>
      <p:graphicFrame>
        <p:nvGraphicFramePr>
          <p:cNvPr id="3" name="表格 2"/>
          <p:cNvGraphicFramePr/>
          <p:nvPr>
            <p:custDataLst>
              <p:tags r:id="rId1"/>
            </p:custDataLst>
          </p:nvPr>
        </p:nvGraphicFramePr>
        <p:xfrm>
          <a:off x="666750" y="980440"/>
          <a:ext cx="10953750" cy="5014595"/>
        </p:xfrm>
        <a:graphic>
          <a:graphicData uri="http://schemas.openxmlformats.org/drawingml/2006/table">
            <a:tbl>
              <a:tblPr/>
              <a:tblGrid>
                <a:gridCol w="2211705"/>
                <a:gridCol w="1765935"/>
                <a:gridCol w="1852930"/>
                <a:gridCol w="1802130"/>
                <a:gridCol w="2030095"/>
                <a:gridCol w="1290955"/>
              </a:tblGrid>
              <a:tr h="563245">
                <a:tc>
                  <a:txBody>
                    <a:bodyPr/>
                    <a:lstStyle/>
                    <a:p>
                      <a:r>
                        <a:rPr sz="1875" b="1">
                          <a:solidFill>
                            <a:srgbClr val="FFFFFF"/>
                          </a:solidFill>
                        </a:rPr>
                        <a:t>实验</a:t>
                      </a:r>
                      <a:endParaRPr sz="1875" b="1">
                        <a:solidFill>
                          <a:srgbClr val="FFFFFF"/>
                        </a:solidFill>
                      </a:endParaRPr>
                    </a:p>
                  </a:txBody>
                  <a:tcPr>
                    <a:lnL w="9525">
                      <a:solidFill>
                        <a:srgbClr val="DAE2E8"/>
                      </a:solidFill>
                      <a:prstDash val="solid"/>
                    </a:lnL>
                    <a:lnR w="9525">
                      <a:solidFill>
                        <a:srgbClr val="DAE2E8"/>
                      </a:solidFill>
                      <a:prstDash val="solid"/>
                    </a:lnR>
                    <a:lnT w="9525">
                      <a:solidFill>
                        <a:srgbClr val="DAE2E8"/>
                      </a:solidFill>
                      <a:prstDash val="solid"/>
                    </a:lnT>
                    <a:lnB w="9525">
                      <a:solidFill>
                        <a:srgbClr val="DAE2E8"/>
                      </a:solidFill>
                      <a:prstDash val="solid"/>
                    </a:lnB>
                    <a:solidFill>
                      <a:srgbClr val="102B46"/>
                    </a:solidFill>
                  </a:tcPr>
                </a:tc>
                <a:tc>
                  <a:txBody>
                    <a:bodyPr/>
                    <a:p>
                      <a:pPr>
                        <a:buNone/>
                      </a:pPr>
                      <a:r>
                        <a:rPr lang="zh-CN" altLang="en-US" sz="1875" b="1">
                          <a:solidFill>
                            <a:srgbClr val="FFFFFF"/>
                          </a:solidFill>
                        </a:rPr>
                        <a:t>紫外平均</a:t>
                      </a:r>
                      <a:r>
                        <a:rPr lang="en-US" altLang="zh-CN" sz="1875" b="1">
                          <a:solidFill>
                            <a:srgbClr val="FFFFFF"/>
                          </a:solidFill>
                        </a:rPr>
                        <a:t>R1</a:t>
                      </a:r>
                      <a:endParaRPr lang="en-US" altLang="zh-CN" sz="1875" b="1">
                        <a:solidFill>
                          <a:srgbClr val="FFFFFF"/>
                        </a:solidFill>
                      </a:endParaRPr>
                    </a:p>
                  </a:txBody>
                  <a:tcPr>
                    <a:lnL w="9525">
                      <a:solidFill>
                        <a:srgbClr val="DAE2E8"/>
                      </a:solidFill>
                      <a:prstDash val="solid"/>
                    </a:lnL>
                    <a:lnR w="9525">
                      <a:solidFill>
                        <a:srgbClr val="DAE2E8"/>
                      </a:solidFill>
                      <a:prstDash val="solid"/>
                    </a:lnR>
                    <a:lnT w="9525">
                      <a:solidFill>
                        <a:srgbClr val="DAE2E8"/>
                      </a:solidFill>
                      <a:prstDash val="solid"/>
                    </a:lnT>
                    <a:lnB w="9525">
                      <a:solidFill>
                        <a:srgbClr val="DAE2E8"/>
                      </a:solidFill>
                      <a:prstDash val="solid"/>
                    </a:lnB>
                    <a:solidFill>
                      <a:srgbClr val="102B46"/>
                    </a:solidFill>
                  </a:tcPr>
                </a:tc>
                <a:tc>
                  <a:txBody>
                    <a:bodyPr/>
                    <a:p>
                      <a:pPr>
                        <a:buNone/>
                      </a:pPr>
                      <a:r>
                        <a:rPr lang="zh-CN" altLang="en-US" sz="1875" b="1">
                          <a:solidFill>
                            <a:srgbClr val="FFFFFF"/>
                          </a:solidFill>
                        </a:rPr>
                        <a:t>可见平均</a:t>
                      </a:r>
                      <a:r>
                        <a:rPr lang="en-US" altLang="zh-CN" sz="1875" b="1">
                          <a:solidFill>
                            <a:srgbClr val="FFFFFF"/>
                          </a:solidFill>
                        </a:rPr>
                        <a:t>R2</a:t>
                      </a:r>
                      <a:endParaRPr lang="en-US" altLang="zh-CN" sz="1875" b="1">
                        <a:solidFill>
                          <a:srgbClr val="FFFFFF"/>
                        </a:solidFill>
                      </a:endParaRPr>
                    </a:p>
                  </a:txBody>
                  <a:tcPr>
                    <a:lnR w="9525">
                      <a:solidFill>
                        <a:srgbClr val="DAE2E8"/>
                      </a:solidFill>
                      <a:prstDash val="solid"/>
                    </a:lnR>
                    <a:lnT w="9525">
                      <a:solidFill>
                        <a:srgbClr val="DAE2E8"/>
                      </a:solidFill>
                      <a:prstDash val="solid"/>
                    </a:lnT>
                    <a:lnB w="9525">
                      <a:solidFill>
                        <a:srgbClr val="DAE2E8"/>
                      </a:solidFill>
                      <a:prstDash val="solid"/>
                    </a:lnB>
                    <a:solidFill>
                      <a:srgbClr val="102B46"/>
                    </a:solidFill>
                  </a:tcPr>
                </a:tc>
                <a:tc>
                  <a:txBody>
                    <a:bodyPr/>
                    <a:lstStyle/>
                    <a:p>
                      <a:r>
                        <a:rPr sz="1875" b="1">
                          <a:solidFill>
                            <a:srgbClr val="FFFFFF"/>
                          </a:solidFill>
                        </a:rPr>
                        <a:t>可见平均 T</a:t>
                      </a:r>
                      <a:r>
                        <a:rPr lang="en-US" sz="1875" b="1">
                          <a:solidFill>
                            <a:srgbClr val="FFFFFF"/>
                          </a:solidFill>
                        </a:rPr>
                        <a:t>2</a:t>
                      </a:r>
                      <a:endParaRPr lang="en-US" sz="1875" b="1">
                        <a:solidFill>
                          <a:srgbClr val="FFFFFF"/>
                        </a:solidFill>
                      </a:endParaRPr>
                    </a:p>
                  </a:txBody>
                  <a:tcPr>
                    <a:lnR w="9525">
                      <a:solidFill>
                        <a:srgbClr val="DAE2E8"/>
                      </a:solidFill>
                      <a:prstDash val="solid"/>
                    </a:lnR>
                    <a:lnT w="9525">
                      <a:solidFill>
                        <a:srgbClr val="DAE2E8"/>
                      </a:solidFill>
                      <a:prstDash val="solid"/>
                    </a:lnT>
                    <a:lnB w="9525">
                      <a:solidFill>
                        <a:srgbClr val="DAE2E8"/>
                      </a:solidFill>
                      <a:prstDash val="solid"/>
                    </a:lnB>
                    <a:solidFill>
                      <a:srgbClr val="102B46"/>
                    </a:solidFill>
                  </a:tcPr>
                </a:tc>
                <a:tc>
                  <a:txBody>
                    <a:bodyPr/>
                    <a:lstStyle/>
                    <a:p>
                      <a:r>
                        <a:rPr sz="1875" b="1">
                          <a:solidFill>
                            <a:srgbClr val="FFFFFF"/>
                          </a:solidFill>
                        </a:rPr>
                        <a:t>红外平均 R</a:t>
                      </a:r>
                      <a:r>
                        <a:rPr lang="en-US" sz="1875" b="1">
                          <a:solidFill>
                            <a:srgbClr val="FFFFFF"/>
                          </a:solidFill>
                        </a:rPr>
                        <a:t>3</a:t>
                      </a:r>
                      <a:endParaRPr lang="en-US" sz="1875" b="1">
                        <a:solidFill>
                          <a:srgbClr val="FFFFFF"/>
                        </a:solidFill>
                      </a:endParaRPr>
                    </a:p>
                  </a:txBody>
                  <a:tcPr>
                    <a:lnR w="9525">
                      <a:solidFill>
                        <a:srgbClr val="DAE2E8"/>
                      </a:solidFill>
                      <a:prstDash val="solid"/>
                    </a:lnR>
                    <a:lnT w="9525">
                      <a:solidFill>
                        <a:srgbClr val="DAE2E8"/>
                      </a:solidFill>
                      <a:prstDash val="solid"/>
                    </a:lnT>
                    <a:lnB w="9525">
                      <a:solidFill>
                        <a:srgbClr val="DAE2E8"/>
                      </a:solidFill>
                      <a:prstDash val="solid"/>
                    </a:lnB>
                    <a:solidFill>
                      <a:srgbClr val="102B46"/>
                    </a:solidFill>
                  </a:tcPr>
                </a:tc>
                <a:tc>
                  <a:txBody>
                    <a:bodyPr/>
                    <a:lstStyle/>
                    <a:p>
                      <a:r>
                        <a:rPr sz="1875" b="1">
                          <a:solidFill>
                            <a:srgbClr val="FFFFFF"/>
                          </a:solidFill>
                        </a:rPr>
                        <a:t>层数</a:t>
                      </a:r>
                      <a:endParaRPr sz="1875" b="1">
                        <a:solidFill>
                          <a:srgbClr val="FFFFFF"/>
                        </a:solidFill>
                      </a:endParaRPr>
                    </a:p>
                  </a:txBody>
                  <a:tcPr>
                    <a:lnR w="9525">
                      <a:solidFill>
                        <a:srgbClr val="DAE2E8"/>
                      </a:solidFill>
                      <a:prstDash val="solid"/>
                    </a:lnR>
                    <a:lnT w="9525">
                      <a:solidFill>
                        <a:srgbClr val="DAE2E8"/>
                      </a:solidFill>
                      <a:prstDash val="solid"/>
                    </a:lnT>
                    <a:lnB w="9525">
                      <a:solidFill>
                        <a:srgbClr val="DAE2E8"/>
                      </a:solidFill>
                      <a:prstDash val="solid"/>
                    </a:lnB>
                    <a:solidFill>
                      <a:srgbClr val="102B46"/>
                    </a:solidFill>
                  </a:tcPr>
                </a:tc>
              </a:tr>
              <a:tr h="934720">
                <a:tc>
                  <a:txBody>
                    <a:bodyPr/>
                    <a:p>
                      <a:pPr>
                        <a:buNone/>
                      </a:pPr>
                      <a:r>
                        <a:rPr lang="en-US" altLang="zh-CN" sz="1875" b="0">
                          <a:solidFill>
                            <a:srgbClr val="102B46"/>
                          </a:solidFill>
                        </a:rPr>
                        <a:t>baseline</a:t>
                      </a:r>
                      <a:endParaRPr lang="en-US" altLang="zh-CN" sz="1875" b="0">
                        <a:solidFill>
                          <a:srgbClr val="102B46"/>
                        </a:solidFill>
                      </a:endParaRPr>
                    </a:p>
                  </a:txBody>
                  <a:tcPr>
                    <a:lnL w="9525">
                      <a:solidFill>
                        <a:srgbClr val="DAE2E8"/>
                      </a:solidFill>
                      <a:prstDash val="solid"/>
                    </a:lnL>
                    <a:lnR w="9525">
                      <a:solidFill>
                        <a:srgbClr val="DAE2E8"/>
                      </a:solidFill>
                      <a:prstDash val="solid"/>
                    </a:lnR>
                    <a:lnB w="9525">
                      <a:solidFill>
                        <a:srgbClr val="DAE2E8"/>
                      </a:solidFill>
                      <a:prstDash val="solid"/>
                    </a:lnB>
                    <a:solidFill>
                      <a:srgbClr val="F1F6F8"/>
                    </a:solidFill>
                  </a:tcPr>
                </a:tc>
                <a:tc>
                  <a:txBody>
                    <a:bodyPr/>
                    <a:p>
                      <a:pPr>
                        <a:buNone/>
                      </a:pPr>
                      <a:r>
                        <a:rPr lang="en-US" altLang="zh-CN" sz="1875" b="0">
                          <a:solidFill>
                            <a:srgbClr val="102B46"/>
                          </a:solidFill>
                        </a:rPr>
                        <a:t>75.64%</a:t>
                      </a:r>
                      <a:endParaRPr lang="en-US" altLang="zh-CN" sz="1875" b="0">
                        <a:solidFill>
                          <a:srgbClr val="102B46"/>
                        </a:solidFill>
                      </a:endParaRPr>
                    </a:p>
                  </a:txBody>
                  <a:tcPr>
                    <a:lnL w="9525">
                      <a:solidFill>
                        <a:srgbClr val="DAE2E8"/>
                      </a:solidFill>
                      <a:prstDash val="solid"/>
                    </a:lnL>
                    <a:lnR w="9525">
                      <a:solidFill>
                        <a:srgbClr val="DAE2E8"/>
                      </a:solidFill>
                      <a:prstDash val="solid"/>
                    </a:lnR>
                    <a:lnB w="9525">
                      <a:solidFill>
                        <a:srgbClr val="DAE2E8"/>
                      </a:solidFill>
                      <a:prstDash val="solid"/>
                    </a:lnB>
                    <a:solidFill>
                      <a:srgbClr val="F1F6F8"/>
                    </a:solidFill>
                  </a:tcPr>
                </a:tc>
                <a:tc>
                  <a:txBody>
                    <a:bodyPr/>
                    <a:p>
                      <a:pPr>
                        <a:buNone/>
                      </a:pPr>
                      <a:r>
                        <a:rPr lang="en-US" altLang="zh-CN" sz="1875" b="0">
                          <a:solidFill>
                            <a:srgbClr val="102B46"/>
                          </a:solidFill>
                        </a:rPr>
                        <a:t>41.80%</a:t>
                      </a:r>
                      <a:endParaRPr lang="en-US" altLang="zh-CN" sz="1875" b="0">
                        <a:solidFill>
                          <a:srgbClr val="102B46"/>
                        </a:solidFill>
                      </a:endParaRPr>
                    </a:p>
                  </a:txBody>
                  <a:tcPr>
                    <a:lnR w="9525">
                      <a:solidFill>
                        <a:srgbClr val="DAE2E8"/>
                      </a:solidFill>
                      <a:prstDash val="solid"/>
                    </a:lnR>
                    <a:lnB w="9525">
                      <a:solidFill>
                        <a:srgbClr val="DAE2E8"/>
                      </a:solidFill>
                      <a:prstDash val="solid"/>
                    </a:lnB>
                    <a:solidFill>
                      <a:srgbClr val="F1F6F8"/>
                    </a:solidFill>
                  </a:tcPr>
                </a:tc>
                <a:tc>
                  <a:txBody>
                    <a:bodyPr/>
                    <a:p>
                      <a:pPr>
                        <a:buNone/>
                      </a:pPr>
                      <a:r>
                        <a:rPr lang="en-US" altLang="zh-CN" sz="1875" b="0">
                          <a:solidFill>
                            <a:srgbClr val="102B46"/>
                          </a:solidFill>
                        </a:rPr>
                        <a:t>39.16%</a:t>
                      </a:r>
                      <a:endParaRPr lang="en-US" altLang="zh-CN" sz="1875" b="0">
                        <a:solidFill>
                          <a:srgbClr val="102B46"/>
                        </a:solidFill>
                      </a:endParaRPr>
                    </a:p>
                  </a:txBody>
                  <a:tcPr>
                    <a:lnR w="9525">
                      <a:solidFill>
                        <a:srgbClr val="DAE2E8"/>
                      </a:solidFill>
                      <a:prstDash val="solid"/>
                    </a:lnR>
                    <a:lnB w="9525">
                      <a:solidFill>
                        <a:srgbClr val="DAE2E8"/>
                      </a:solidFill>
                      <a:prstDash val="solid"/>
                    </a:lnB>
                    <a:solidFill>
                      <a:srgbClr val="F1F6F8"/>
                    </a:solidFill>
                  </a:tcPr>
                </a:tc>
                <a:tc>
                  <a:txBody>
                    <a:bodyPr/>
                    <a:p>
                      <a:pPr>
                        <a:buNone/>
                      </a:pPr>
                      <a:r>
                        <a:rPr lang="en-US" altLang="zh-CN" sz="1875" b="0">
                          <a:solidFill>
                            <a:srgbClr val="102B46"/>
                          </a:solidFill>
                        </a:rPr>
                        <a:t>88.55%</a:t>
                      </a:r>
                      <a:endParaRPr lang="en-US" altLang="zh-CN" sz="1875" b="0">
                        <a:solidFill>
                          <a:srgbClr val="102B46"/>
                        </a:solidFill>
                      </a:endParaRPr>
                    </a:p>
                  </a:txBody>
                  <a:tcPr>
                    <a:lnR w="9525">
                      <a:solidFill>
                        <a:srgbClr val="DAE2E8"/>
                      </a:solidFill>
                      <a:prstDash val="solid"/>
                    </a:lnR>
                    <a:lnB w="9525">
                      <a:solidFill>
                        <a:srgbClr val="DAE2E8"/>
                      </a:solidFill>
                      <a:prstDash val="solid"/>
                    </a:lnB>
                    <a:solidFill>
                      <a:srgbClr val="F1F6F8"/>
                    </a:solidFill>
                  </a:tcPr>
                </a:tc>
                <a:tc>
                  <a:txBody>
                    <a:bodyPr/>
                    <a:p>
                      <a:pPr>
                        <a:buNone/>
                      </a:pPr>
                      <a:r>
                        <a:rPr lang="en-US" altLang="zh-CN" sz="1875" b="0">
                          <a:solidFill>
                            <a:srgbClr val="102B46"/>
                          </a:solidFill>
                        </a:rPr>
                        <a:t>42</a:t>
                      </a:r>
                      <a:endParaRPr lang="en-US" altLang="zh-CN" sz="1875" b="0">
                        <a:solidFill>
                          <a:srgbClr val="102B46"/>
                        </a:solidFill>
                      </a:endParaRPr>
                    </a:p>
                  </a:txBody>
                  <a:tcPr>
                    <a:lnR w="9525">
                      <a:solidFill>
                        <a:srgbClr val="DAE2E8"/>
                      </a:solidFill>
                      <a:prstDash val="solid"/>
                    </a:lnR>
                    <a:lnB w="9525">
                      <a:solidFill>
                        <a:srgbClr val="DAE2E8"/>
                      </a:solidFill>
                      <a:prstDash val="solid"/>
                    </a:lnB>
                    <a:solidFill>
                      <a:srgbClr val="F1F6F8"/>
                    </a:solidFill>
                  </a:tcPr>
                </a:tc>
              </a:tr>
              <a:tr h="1273175">
                <a:tc>
                  <a:txBody>
                    <a:bodyPr/>
                    <a:lstStyle/>
                    <a:p>
                      <a:r>
                        <a:rPr lang="zh-CN" altLang="en-US" sz="1875" b="0">
                          <a:solidFill>
                            <a:srgbClr val="102B46"/>
                          </a:solidFill>
                        </a:rPr>
                        <a:t>目标：</a:t>
                      </a:r>
                      <a:r>
                        <a:rPr lang="en-US" altLang="zh-CN" sz="1875" b="0">
                          <a:solidFill>
                            <a:srgbClr val="102B46"/>
                          </a:solidFill>
                        </a:rPr>
                        <a:t>R1=1 T2=1 R3=1</a:t>
                      </a:r>
                      <a:endParaRPr lang="en-US" altLang="zh-CN" sz="1875" b="0">
                        <a:solidFill>
                          <a:srgbClr val="102B46"/>
                        </a:solidFill>
                      </a:endParaRPr>
                    </a:p>
                  </a:txBody>
                  <a:tcPr>
                    <a:lnL w="9525">
                      <a:solidFill>
                        <a:srgbClr val="DAE2E8"/>
                      </a:solidFill>
                      <a:prstDash val="solid"/>
                    </a:lnL>
                    <a:lnR w="9525">
                      <a:solidFill>
                        <a:srgbClr val="DAE2E8"/>
                      </a:solidFill>
                      <a:prstDash val="solid"/>
                    </a:lnR>
                    <a:lnB w="9525">
                      <a:solidFill>
                        <a:srgbClr val="DAE2E8"/>
                      </a:solidFill>
                      <a:prstDash val="solid"/>
                    </a:lnB>
                    <a:solidFill>
                      <a:srgbClr val="F1F6F8"/>
                    </a:solidFill>
                  </a:tcPr>
                </a:tc>
                <a:tc>
                  <a:txBody>
                    <a:bodyPr/>
                    <a:p>
                      <a:pPr>
                        <a:buNone/>
                      </a:pPr>
                      <a:r>
                        <a:rPr lang="en-US" altLang="zh-CN" sz="1875" b="0">
                          <a:solidFill>
                            <a:srgbClr val="102B46"/>
                          </a:solidFill>
                        </a:rPr>
                        <a:t>89.62%</a:t>
                      </a:r>
                      <a:endParaRPr lang="en-US" altLang="zh-CN" sz="1875" b="0">
                        <a:solidFill>
                          <a:srgbClr val="102B46"/>
                        </a:solidFill>
                      </a:endParaRPr>
                    </a:p>
                  </a:txBody>
                  <a:tcPr>
                    <a:lnL w="9525">
                      <a:solidFill>
                        <a:srgbClr val="DAE2E8"/>
                      </a:solidFill>
                      <a:prstDash val="solid"/>
                    </a:lnL>
                    <a:lnR w="9525">
                      <a:solidFill>
                        <a:srgbClr val="DAE2E8"/>
                      </a:solidFill>
                      <a:prstDash val="solid"/>
                    </a:lnR>
                    <a:lnB w="9525">
                      <a:solidFill>
                        <a:srgbClr val="DAE2E8"/>
                      </a:solidFill>
                      <a:prstDash val="solid"/>
                    </a:lnB>
                    <a:solidFill>
                      <a:srgbClr val="F1F6F8"/>
                    </a:solidFill>
                  </a:tcPr>
                </a:tc>
                <a:tc>
                  <a:txBody>
                    <a:bodyPr/>
                    <a:p>
                      <a:pPr>
                        <a:buNone/>
                      </a:pPr>
                      <a:r>
                        <a:rPr lang="en-US" altLang="zh-CN" sz="1875" b="0">
                          <a:solidFill>
                            <a:srgbClr val="102B46"/>
                          </a:solidFill>
                        </a:rPr>
                        <a:t>78.00%</a:t>
                      </a:r>
                      <a:endParaRPr lang="en-US" altLang="zh-CN" sz="1875" b="0">
                        <a:solidFill>
                          <a:srgbClr val="102B46"/>
                        </a:solidFill>
                      </a:endParaRPr>
                    </a:p>
                  </a:txBody>
                  <a:tcPr>
                    <a:lnR w="9525">
                      <a:solidFill>
                        <a:srgbClr val="DAE2E8"/>
                      </a:solidFill>
                      <a:prstDash val="solid"/>
                    </a:lnR>
                    <a:lnB w="9525">
                      <a:solidFill>
                        <a:srgbClr val="DAE2E8"/>
                      </a:solidFill>
                      <a:prstDash val="solid"/>
                    </a:lnB>
                    <a:solidFill>
                      <a:srgbClr val="F1F6F8"/>
                    </a:solidFill>
                  </a:tcPr>
                </a:tc>
                <a:tc>
                  <a:txBody>
                    <a:bodyPr/>
                    <a:lstStyle/>
                    <a:p>
                      <a:r>
                        <a:rPr lang="en-US" sz="1875" b="0">
                          <a:solidFill>
                            <a:srgbClr val="102B46"/>
                          </a:solidFill>
                        </a:rPr>
                        <a:t>21</a:t>
                      </a:r>
                      <a:r>
                        <a:rPr sz="1875" b="0">
                          <a:solidFill>
                            <a:srgbClr val="102B46"/>
                          </a:solidFill>
                        </a:rPr>
                        <a:t>.9</a:t>
                      </a:r>
                      <a:r>
                        <a:rPr lang="en-US" sz="1875" b="0">
                          <a:solidFill>
                            <a:srgbClr val="102B46"/>
                          </a:solidFill>
                        </a:rPr>
                        <a:t>0</a:t>
                      </a:r>
                      <a:r>
                        <a:rPr sz="1875" b="0">
                          <a:solidFill>
                            <a:srgbClr val="102B46"/>
                          </a:solidFill>
                        </a:rPr>
                        <a:t>%</a:t>
                      </a:r>
                      <a:endParaRPr sz="1875" b="0">
                        <a:solidFill>
                          <a:srgbClr val="102B46"/>
                        </a:solidFill>
                      </a:endParaRPr>
                    </a:p>
                  </a:txBody>
                  <a:tcPr>
                    <a:lnR w="9525">
                      <a:solidFill>
                        <a:srgbClr val="DAE2E8"/>
                      </a:solidFill>
                      <a:prstDash val="solid"/>
                    </a:lnR>
                    <a:lnB w="9525">
                      <a:solidFill>
                        <a:srgbClr val="DAE2E8"/>
                      </a:solidFill>
                      <a:prstDash val="solid"/>
                    </a:lnB>
                    <a:solidFill>
                      <a:srgbClr val="F1F6F8"/>
                    </a:solidFill>
                  </a:tcPr>
                </a:tc>
                <a:tc>
                  <a:txBody>
                    <a:bodyPr/>
                    <a:lstStyle/>
                    <a:p>
                      <a:r>
                        <a:rPr lang="en-US" sz="1875" b="0">
                          <a:solidFill>
                            <a:srgbClr val="102B46"/>
                          </a:solidFill>
                        </a:rPr>
                        <a:t>94.16</a:t>
                      </a:r>
                      <a:r>
                        <a:rPr sz="1875" b="0">
                          <a:solidFill>
                            <a:srgbClr val="102B46"/>
                          </a:solidFill>
                        </a:rPr>
                        <a:t>%</a:t>
                      </a:r>
                      <a:endParaRPr sz="1875" b="0">
                        <a:solidFill>
                          <a:srgbClr val="102B46"/>
                        </a:solidFill>
                      </a:endParaRPr>
                    </a:p>
                  </a:txBody>
                  <a:tcPr>
                    <a:lnR w="9525">
                      <a:solidFill>
                        <a:srgbClr val="DAE2E8"/>
                      </a:solidFill>
                      <a:prstDash val="solid"/>
                    </a:lnR>
                    <a:lnB w="9525">
                      <a:solidFill>
                        <a:srgbClr val="DAE2E8"/>
                      </a:solidFill>
                      <a:prstDash val="solid"/>
                    </a:lnB>
                    <a:solidFill>
                      <a:srgbClr val="F1F6F8"/>
                    </a:solidFill>
                  </a:tcPr>
                </a:tc>
                <a:tc>
                  <a:txBody>
                    <a:bodyPr/>
                    <a:lstStyle/>
                    <a:p>
                      <a:r>
                        <a:rPr lang="en-US" sz="1875" b="0">
                          <a:solidFill>
                            <a:srgbClr val="102B46"/>
                          </a:solidFill>
                        </a:rPr>
                        <a:t>42</a:t>
                      </a:r>
                      <a:endParaRPr lang="en-US" sz="1875" b="0">
                        <a:solidFill>
                          <a:srgbClr val="102B46"/>
                        </a:solidFill>
                      </a:endParaRPr>
                    </a:p>
                  </a:txBody>
                  <a:tcPr>
                    <a:lnR w="9525">
                      <a:solidFill>
                        <a:srgbClr val="DAE2E8"/>
                      </a:solidFill>
                      <a:prstDash val="solid"/>
                    </a:lnR>
                    <a:lnB w="9525">
                      <a:solidFill>
                        <a:srgbClr val="DAE2E8"/>
                      </a:solidFill>
                      <a:prstDash val="solid"/>
                    </a:lnB>
                    <a:solidFill>
                      <a:srgbClr val="F1F6F8"/>
                    </a:solidFill>
                  </a:tcPr>
                </a:tc>
              </a:tr>
              <a:tr h="1200785">
                <a:tc>
                  <a:txBody>
                    <a:bodyPr/>
                    <a:lstStyle/>
                    <a:p>
                      <a:r>
                        <a:rPr lang="zh-CN" sz="1875" b="0">
                          <a:solidFill>
                            <a:srgbClr val="102B46"/>
                          </a:solidFill>
                        </a:rPr>
                        <a:t>目标：</a:t>
                      </a:r>
                      <a:r>
                        <a:rPr lang="en-US" altLang="zh-CN" sz="1875">
                          <a:solidFill>
                            <a:srgbClr val="102B46"/>
                          </a:solidFill>
                          <a:sym typeface="+mn-ea"/>
                        </a:rPr>
                        <a:t>R1=1 R2=0 R3=1</a:t>
                      </a:r>
                      <a:endParaRPr lang="zh-CN" sz="1875" b="0">
                        <a:solidFill>
                          <a:srgbClr val="102B46"/>
                        </a:solidFill>
                      </a:endParaRPr>
                    </a:p>
                  </a:txBody>
                  <a:tcPr>
                    <a:lnL w="9525">
                      <a:solidFill>
                        <a:srgbClr val="DAE2E8"/>
                      </a:solidFill>
                      <a:prstDash val="solid"/>
                    </a:lnL>
                    <a:lnR w="9525">
                      <a:solidFill>
                        <a:srgbClr val="DAE2E8"/>
                      </a:solidFill>
                      <a:prstDash val="solid"/>
                    </a:lnR>
                    <a:lnB w="9525">
                      <a:solidFill>
                        <a:srgbClr val="DAE2E8"/>
                      </a:solidFill>
                      <a:prstDash val="solid"/>
                    </a:lnB>
                    <a:solidFill>
                      <a:srgbClr val="FFFFFF"/>
                    </a:solidFill>
                  </a:tcPr>
                </a:tc>
                <a:tc>
                  <a:txBody>
                    <a:bodyPr/>
                    <a:p>
                      <a:pPr>
                        <a:buNone/>
                      </a:pPr>
                      <a:r>
                        <a:rPr lang="en-US" altLang="zh-CN" sz="1875" b="0">
                          <a:solidFill>
                            <a:srgbClr val="102B46"/>
                          </a:solidFill>
                        </a:rPr>
                        <a:t>84.11%</a:t>
                      </a:r>
                      <a:endParaRPr lang="en-US" altLang="zh-CN" sz="1875" b="0">
                        <a:solidFill>
                          <a:srgbClr val="102B46"/>
                        </a:solidFill>
                      </a:endParaRPr>
                    </a:p>
                  </a:txBody>
                  <a:tcPr>
                    <a:lnL w="9525">
                      <a:solidFill>
                        <a:srgbClr val="DAE2E8"/>
                      </a:solidFill>
                      <a:prstDash val="solid"/>
                    </a:lnL>
                    <a:lnR w="9525">
                      <a:solidFill>
                        <a:srgbClr val="DAE2E8"/>
                      </a:solidFill>
                      <a:prstDash val="solid"/>
                    </a:lnR>
                    <a:lnB w="9525">
                      <a:solidFill>
                        <a:srgbClr val="DAE2E8"/>
                      </a:solidFill>
                      <a:prstDash val="solid"/>
                    </a:lnB>
                    <a:solidFill>
                      <a:srgbClr val="FFFFFF"/>
                    </a:solidFill>
                  </a:tcPr>
                </a:tc>
                <a:tc>
                  <a:txBody>
                    <a:bodyPr/>
                    <a:p>
                      <a:pPr>
                        <a:buNone/>
                      </a:pPr>
                      <a:r>
                        <a:rPr lang="en-US" altLang="zh-CN" sz="1875" b="0">
                          <a:solidFill>
                            <a:srgbClr val="102B46"/>
                          </a:solidFill>
                        </a:rPr>
                        <a:t>46.4%</a:t>
                      </a:r>
                      <a:endParaRPr lang="en-US" altLang="zh-CN" sz="1875" b="0">
                        <a:solidFill>
                          <a:srgbClr val="102B46"/>
                        </a:solidFill>
                      </a:endParaRPr>
                    </a:p>
                  </a:txBody>
                  <a:tcPr>
                    <a:lnR w="9525">
                      <a:solidFill>
                        <a:srgbClr val="DAE2E8"/>
                      </a:solidFill>
                      <a:prstDash val="solid"/>
                    </a:lnR>
                    <a:lnB w="9525">
                      <a:solidFill>
                        <a:srgbClr val="DAE2E8"/>
                      </a:solidFill>
                      <a:prstDash val="solid"/>
                    </a:lnB>
                    <a:solidFill>
                      <a:srgbClr val="FFFFFF"/>
                    </a:solidFill>
                  </a:tcPr>
                </a:tc>
                <a:tc>
                  <a:txBody>
                    <a:bodyPr/>
                    <a:lstStyle/>
                    <a:p>
                      <a:r>
                        <a:rPr lang="en-US" sz="1875" b="0">
                          <a:solidFill>
                            <a:srgbClr val="102B46"/>
                          </a:solidFill>
                        </a:rPr>
                        <a:t>4.92</a:t>
                      </a:r>
                      <a:r>
                        <a:rPr sz="1875" b="0">
                          <a:solidFill>
                            <a:srgbClr val="102B46"/>
                          </a:solidFill>
                        </a:rPr>
                        <a:t>%</a:t>
                      </a:r>
                      <a:endParaRPr sz="1875" b="0">
                        <a:solidFill>
                          <a:srgbClr val="102B46"/>
                        </a:solidFill>
                      </a:endParaRPr>
                    </a:p>
                  </a:txBody>
                  <a:tcPr>
                    <a:lnR w="9525">
                      <a:solidFill>
                        <a:srgbClr val="DAE2E8"/>
                      </a:solidFill>
                      <a:prstDash val="solid"/>
                    </a:lnR>
                    <a:lnB w="9525">
                      <a:solidFill>
                        <a:srgbClr val="DAE2E8"/>
                      </a:solidFill>
                      <a:prstDash val="solid"/>
                    </a:lnB>
                    <a:solidFill>
                      <a:srgbClr val="FFFFFF"/>
                    </a:solidFill>
                  </a:tcPr>
                </a:tc>
                <a:tc>
                  <a:txBody>
                    <a:bodyPr/>
                    <a:lstStyle/>
                    <a:p>
                      <a:r>
                        <a:rPr lang="en-US" sz="1875" b="0">
                          <a:solidFill>
                            <a:srgbClr val="102B46"/>
                          </a:solidFill>
                        </a:rPr>
                        <a:t>94.60</a:t>
                      </a:r>
                      <a:r>
                        <a:rPr sz="1875" b="0">
                          <a:solidFill>
                            <a:srgbClr val="102B46"/>
                          </a:solidFill>
                        </a:rPr>
                        <a:t>%</a:t>
                      </a:r>
                      <a:endParaRPr sz="1875" b="0">
                        <a:solidFill>
                          <a:srgbClr val="102B46"/>
                        </a:solidFill>
                      </a:endParaRPr>
                    </a:p>
                  </a:txBody>
                  <a:tcPr>
                    <a:lnR w="9525">
                      <a:solidFill>
                        <a:srgbClr val="DAE2E8"/>
                      </a:solidFill>
                      <a:prstDash val="solid"/>
                    </a:lnR>
                    <a:lnB w="9525">
                      <a:solidFill>
                        <a:srgbClr val="DAE2E8"/>
                      </a:solidFill>
                      <a:prstDash val="solid"/>
                    </a:lnB>
                    <a:solidFill>
                      <a:srgbClr val="FFFFFF"/>
                    </a:solidFill>
                  </a:tcPr>
                </a:tc>
                <a:tc>
                  <a:txBody>
                    <a:bodyPr/>
                    <a:lstStyle/>
                    <a:p>
                      <a:r>
                        <a:rPr lang="en-US" sz="1875" b="0">
                          <a:solidFill>
                            <a:srgbClr val="102B46"/>
                          </a:solidFill>
                        </a:rPr>
                        <a:t>80</a:t>
                      </a:r>
                      <a:endParaRPr lang="en-US" sz="1875" b="0">
                        <a:solidFill>
                          <a:srgbClr val="102B46"/>
                        </a:solidFill>
                      </a:endParaRPr>
                    </a:p>
                  </a:txBody>
                  <a:tcPr>
                    <a:lnR w="9525">
                      <a:solidFill>
                        <a:srgbClr val="DAE2E8"/>
                      </a:solidFill>
                      <a:prstDash val="solid"/>
                    </a:lnR>
                    <a:lnB w="9525">
                      <a:solidFill>
                        <a:srgbClr val="DAE2E8"/>
                      </a:solidFill>
                      <a:prstDash val="solid"/>
                    </a:lnB>
                    <a:solidFill>
                      <a:srgbClr val="FFFFFF"/>
                    </a:solidFill>
                  </a:tcPr>
                </a:tc>
              </a:tr>
              <a:tr h="1042670">
                <a:tc>
                  <a:txBody>
                    <a:bodyPr/>
                    <a:lstStyle/>
                    <a:p>
                      <a:r>
                        <a:rPr lang="zh-CN" altLang="en-US" sz="1875" b="0">
                          <a:solidFill>
                            <a:srgbClr val="102B46"/>
                          </a:solidFill>
                        </a:rPr>
                        <a:t>目标：</a:t>
                      </a:r>
                      <a:r>
                        <a:rPr lang="en-US" altLang="zh-CN" sz="1875">
                          <a:solidFill>
                            <a:srgbClr val="102B46"/>
                          </a:solidFill>
                          <a:sym typeface="+mn-ea"/>
                        </a:rPr>
                        <a:t>R1=1 T2=1</a:t>
                      </a:r>
                      <a:endParaRPr lang="en-US" altLang="zh-CN" sz="1875">
                        <a:solidFill>
                          <a:srgbClr val="102B46"/>
                        </a:solidFill>
                        <a:sym typeface="+mn-ea"/>
                      </a:endParaRPr>
                    </a:p>
                    <a:p>
                      <a:r>
                        <a:rPr lang="en-US" altLang="zh-CN" sz="1875">
                          <a:solidFill>
                            <a:srgbClr val="102B46"/>
                          </a:solidFill>
                          <a:sym typeface="+mn-ea"/>
                        </a:rPr>
                        <a:t>R2=0 R3=1 </a:t>
                      </a:r>
                      <a:endParaRPr lang="zh-CN" altLang="en-US" sz="1875" b="0">
                        <a:solidFill>
                          <a:srgbClr val="102B46"/>
                        </a:solidFill>
                      </a:endParaRPr>
                    </a:p>
                  </a:txBody>
                  <a:tcPr>
                    <a:lnL w="9525">
                      <a:solidFill>
                        <a:srgbClr val="DAE2E8"/>
                      </a:solidFill>
                      <a:prstDash val="solid"/>
                    </a:lnL>
                    <a:lnR w="9525">
                      <a:solidFill>
                        <a:srgbClr val="DAE2E8"/>
                      </a:solidFill>
                      <a:prstDash val="solid"/>
                    </a:lnR>
                    <a:lnB w="9525">
                      <a:solidFill>
                        <a:srgbClr val="DAE2E8"/>
                      </a:solidFill>
                      <a:prstDash val="solid"/>
                    </a:lnB>
                    <a:solidFill>
                      <a:srgbClr val="F1F6F8"/>
                    </a:solidFill>
                  </a:tcPr>
                </a:tc>
                <a:tc>
                  <a:txBody>
                    <a:bodyPr/>
                    <a:p>
                      <a:pPr>
                        <a:buNone/>
                      </a:pPr>
                      <a:r>
                        <a:rPr lang="en-US" altLang="zh-CN" sz="1875" b="0">
                          <a:solidFill>
                            <a:srgbClr val="102B46"/>
                          </a:solidFill>
                        </a:rPr>
                        <a:t>47.76%</a:t>
                      </a:r>
                      <a:endParaRPr lang="en-US" altLang="zh-CN" sz="1875" b="0">
                        <a:solidFill>
                          <a:srgbClr val="102B46"/>
                        </a:solidFill>
                      </a:endParaRPr>
                    </a:p>
                  </a:txBody>
                  <a:tcPr>
                    <a:lnL w="9525">
                      <a:solidFill>
                        <a:srgbClr val="DAE2E8"/>
                      </a:solidFill>
                      <a:prstDash val="solid"/>
                    </a:lnL>
                    <a:lnR w="9525">
                      <a:solidFill>
                        <a:srgbClr val="DAE2E8"/>
                      </a:solidFill>
                      <a:prstDash val="solid"/>
                    </a:lnR>
                    <a:lnB w="9525">
                      <a:solidFill>
                        <a:srgbClr val="DAE2E8"/>
                      </a:solidFill>
                      <a:prstDash val="solid"/>
                    </a:lnB>
                    <a:solidFill>
                      <a:srgbClr val="F1F6F8"/>
                    </a:solidFill>
                  </a:tcPr>
                </a:tc>
                <a:tc>
                  <a:txBody>
                    <a:bodyPr/>
                    <a:p>
                      <a:pPr>
                        <a:buNone/>
                      </a:pPr>
                      <a:r>
                        <a:rPr lang="en-US" altLang="zh-CN" sz="1875" b="0">
                          <a:solidFill>
                            <a:srgbClr val="102B46"/>
                          </a:solidFill>
                        </a:rPr>
                        <a:t>21.89%</a:t>
                      </a:r>
                      <a:endParaRPr lang="en-US" altLang="zh-CN" sz="1875" b="0">
                        <a:solidFill>
                          <a:srgbClr val="102B46"/>
                        </a:solidFill>
                      </a:endParaRPr>
                    </a:p>
                  </a:txBody>
                  <a:tcPr>
                    <a:lnR w="9525">
                      <a:solidFill>
                        <a:srgbClr val="DAE2E8"/>
                      </a:solidFill>
                      <a:prstDash val="solid"/>
                    </a:lnR>
                    <a:lnB w="9525">
                      <a:solidFill>
                        <a:srgbClr val="DAE2E8"/>
                      </a:solidFill>
                      <a:prstDash val="solid"/>
                    </a:lnB>
                    <a:solidFill>
                      <a:srgbClr val="F1F6F8"/>
                    </a:solidFill>
                  </a:tcPr>
                </a:tc>
                <a:tc>
                  <a:txBody>
                    <a:bodyPr/>
                    <a:lstStyle/>
                    <a:p>
                      <a:r>
                        <a:rPr sz="1875" b="0">
                          <a:solidFill>
                            <a:srgbClr val="102B46"/>
                          </a:solidFill>
                        </a:rPr>
                        <a:t>7</a:t>
                      </a:r>
                      <a:r>
                        <a:rPr lang="en-US" sz="1875" b="0">
                          <a:solidFill>
                            <a:srgbClr val="102B46"/>
                          </a:solidFill>
                        </a:rPr>
                        <a:t>8</a:t>
                      </a:r>
                      <a:r>
                        <a:rPr sz="1875" b="0">
                          <a:solidFill>
                            <a:srgbClr val="102B46"/>
                          </a:solidFill>
                        </a:rPr>
                        <a:t>.</a:t>
                      </a:r>
                      <a:r>
                        <a:rPr lang="en-US" sz="1875" b="0">
                          <a:solidFill>
                            <a:srgbClr val="102B46"/>
                          </a:solidFill>
                        </a:rPr>
                        <a:t>11</a:t>
                      </a:r>
                      <a:r>
                        <a:rPr sz="1875" b="0">
                          <a:solidFill>
                            <a:srgbClr val="102B46"/>
                          </a:solidFill>
                        </a:rPr>
                        <a:t>%</a:t>
                      </a:r>
                      <a:endParaRPr sz="1875" b="0">
                        <a:solidFill>
                          <a:srgbClr val="102B46"/>
                        </a:solidFill>
                      </a:endParaRPr>
                    </a:p>
                  </a:txBody>
                  <a:tcPr>
                    <a:lnR w="9525">
                      <a:solidFill>
                        <a:srgbClr val="DAE2E8"/>
                      </a:solidFill>
                      <a:prstDash val="solid"/>
                    </a:lnR>
                    <a:lnB w="9525">
                      <a:solidFill>
                        <a:srgbClr val="DAE2E8"/>
                      </a:solidFill>
                      <a:prstDash val="solid"/>
                    </a:lnB>
                    <a:solidFill>
                      <a:srgbClr val="F1F6F8"/>
                    </a:solidFill>
                  </a:tcPr>
                </a:tc>
                <a:tc>
                  <a:txBody>
                    <a:bodyPr/>
                    <a:lstStyle/>
                    <a:p>
                      <a:r>
                        <a:rPr lang="en-US" sz="1875" b="0">
                          <a:solidFill>
                            <a:srgbClr val="102B46"/>
                          </a:solidFill>
                        </a:rPr>
                        <a:t>47</a:t>
                      </a:r>
                      <a:r>
                        <a:rPr sz="1875" b="0">
                          <a:solidFill>
                            <a:srgbClr val="102B46"/>
                          </a:solidFill>
                        </a:rPr>
                        <a:t>.</a:t>
                      </a:r>
                      <a:r>
                        <a:rPr lang="en-US" sz="1875" b="0">
                          <a:solidFill>
                            <a:srgbClr val="102B46"/>
                          </a:solidFill>
                        </a:rPr>
                        <a:t>21</a:t>
                      </a:r>
                      <a:r>
                        <a:rPr sz="1875" b="0">
                          <a:solidFill>
                            <a:srgbClr val="102B46"/>
                          </a:solidFill>
                        </a:rPr>
                        <a:t>%</a:t>
                      </a:r>
                      <a:endParaRPr sz="1875" b="0">
                        <a:solidFill>
                          <a:srgbClr val="102B46"/>
                        </a:solidFill>
                      </a:endParaRPr>
                    </a:p>
                  </a:txBody>
                  <a:tcPr>
                    <a:lnR w="9525">
                      <a:solidFill>
                        <a:srgbClr val="DAE2E8"/>
                      </a:solidFill>
                      <a:prstDash val="solid"/>
                    </a:lnR>
                    <a:lnB w="9525">
                      <a:solidFill>
                        <a:srgbClr val="DAE2E8"/>
                      </a:solidFill>
                      <a:prstDash val="solid"/>
                    </a:lnB>
                    <a:solidFill>
                      <a:srgbClr val="F1F6F8"/>
                    </a:solidFill>
                  </a:tcPr>
                </a:tc>
                <a:tc>
                  <a:txBody>
                    <a:bodyPr/>
                    <a:lstStyle/>
                    <a:p>
                      <a:r>
                        <a:rPr sz="1875" b="0">
                          <a:solidFill>
                            <a:srgbClr val="102B46"/>
                          </a:solidFill>
                        </a:rPr>
                        <a:t>1</a:t>
                      </a:r>
                      <a:endParaRPr sz="1875" b="0">
                        <a:solidFill>
                          <a:srgbClr val="102B46"/>
                        </a:solidFill>
                      </a:endParaRPr>
                    </a:p>
                  </a:txBody>
                  <a:tcPr>
                    <a:lnR w="9525">
                      <a:solidFill>
                        <a:srgbClr val="DAE2E8"/>
                      </a:solidFill>
                      <a:prstDash val="solid"/>
                    </a:lnR>
                    <a:lnB w="9525">
                      <a:solidFill>
                        <a:srgbClr val="DAE2E8"/>
                      </a:solidFill>
                      <a:prstDash val="solid"/>
                    </a:lnB>
                    <a:solidFill>
                      <a:srgbClr val="F1F6F8"/>
                    </a:solidFill>
                  </a:tcPr>
                </a:tc>
              </a:tr>
            </a:tbl>
          </a:graphicData>
        </a:graphic>
      </p:graphicFrame>
      <p:sp>
        <p:nvSpPr>
          <p:cNvPr id="4" name="矩形 3"/>
          <p:cNvSpPr>
            <a:spLocks noGrp="1"/>
          </p:cNvSpPr>
          <p:nvPr/>
        </p:nvSpPr>
        <p:spPr>
          <a:xfrm>
            <a:off x="619125" y="5071745"/>
            <a:ext cx="10953750" cy="523875"/>
          </a:xfrm>
          <a:prstGeom prst="rect">
            <a:avLst/>
          </a:prstGeom>
          <a:noFill/>
          <a:ln w="0">
            <a:noFill/>
          </a:ln>
        </p:spPr>
        <p:txBody>
          <a:bodyPr/>
          <a:lstStyle>
            <a:defPPr>
              <a:defRPr sz="2325" b="1">
                <a:solidFill>
                  <a:srgbClr val="B45332"/>
                </a:solidFill>
              </a:defRPr>
            </a:defPPr>
            <a:lvl1pPr>
              <a:defRPr sz="2325" b="1">
                <a:solidFill>
                  <a:srgbClr val="B45332"/>
                </a:solidFill>
              </a:defRPr>
            </a:lvl1pPr>
            <a:lvl2pPr>
              <a:defRPr sz="2325" b="1">
                <a:solidFill>
                  <a:srgbClr val="B45332"/>
                </a:solidFill>
              </a:defRPr>
            </a:lvl2pPr>
            <a:lvl3pPr>
              <a:defRPr sz="2325" b="1">
                <a:solidFill>
                  <a:srgbClr val="B45332"/>
                </a:solidFill>
              </a:defRPr>
            </a:lvl3pPr>
            <a:lvl4pPr>
              <a:defRPr sz="2325" b="1">
                <a:solidFill>
                  <a:srgbClr val="B45332"/>
                </a:solidFill>
              </a:defRPr>
            </a:lvl4pPr>
            <a:lvl5pPr>
              <a:defRPr sz="2325" b="1">
                <a:solidFill>
                  <a:srgbClr val="B45332"/>
                </a:solidFill>
              </a:defRPr>
            </a:lvl5pPr>
            <a:lvl6pPr>
              <a:defRPr sz="2325" b="1">
                <a:solidFill>
                  <a:srgbClr val="B45332"/>
                </a:solidFill>
              </a:defRPr>
            </a:lvl6pPr>
            <a:lvl7pPr>
              <a:defRPr sz="2325" b="1">
                <a:solidFill>
                  <a:srgbClr val="B45332"/>
                </a:solidFill>
              </a:defRPr>
            </a:lvl7pPr>
            <a:lvl8pPr>
              <a:defRPr sz="2325" b="1">
                <a:solidFill>
                  <a:srgbClr val="B45332"/>
                </a:solidFill>
              </a:defRPr>
            </a:lvl8pPr>
            <a:lvl9pPr>
              <a:defRPr sz="2325" b="1">
                <a:solidFill>
                  <a:srgbClr val="B45332"/>
                </a:solidFill>
              </a:defRPr>
            </a:lvl9pPr>
          </a:lstStyle>
          <a:p>
            <a:pPr>
              <a:defRPr sz="2325" b="1">
                <a:solidFill>
                  <a:srgbClr val="B45332"/>
                </a:solidFill>
              </a:defRPr>
            </a:pPr>
            <a:endParaRPr sz="2325" b="1">
              <a:solidFill>
                <a:srgbClr val="B45332"/>
              </a:solidFill>
            </a:endParaRPr>
          </a:p>
        </p:txBody>
      </p:sp>
      <p:sp>
        <p:nvSpPr>
          <p:cNvPr id="7" name="文本框 6"/>
          <p:cNvSpPr txBox="1"/>
          <p:nvPr/>
        </p:nvSpPr>
        <p:spPr>
          <a:xfrm>
            <a:off x="478790" y="6165215"/>
            <a:ext cx="11095355" cy="368300"/>
          </a:xfrm>
          <a:prstGeom prst="rect">
            <a:avLst/>
          </a:prstGeom>
          <a:noFill/>
        </p:spPr>
        <p:txBody>
          <a:bodyPr wrap="square" rtlCol="0">
            <a:spAutoFit/>
          </a:bodyPr>
          <a:p>
            <a:r>
              <a:rPr lang="zh-CN" altLang="en-US">
                <a:sym typeface="+mn-ea"/>
              </a:rPr>
              <a:t>单波段单一目标无法实现完全优化；</a:t>
            </a:r>
            <a:r>
              <a:rPr lang="zh-CN" altLang="en-US"/>
              <a:t>多目标波段导致模型迟迟找不到好的设计于是停留在第一层不再探索；</a:t>
            </a:r>
            <a:endParaRPr lang="zh-CN" alt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7" name="矩形 6"/>
          <p:cNvSpPr>
            <a:spLocks noGrp="1"/>
          </p:cNvSpPr>
          <p:nvPr/>
        </p:nvSpPr>
        <p:spPr>
          <a:xfrm>
            <a:off x="623570" y="332740"/>
            <a:ext cx="12183110" cy="762000"/>
          </a:xfrm>
          <a:prstGeom prst="rect">
            <a:avLst/>
          </a:prstGeom>
          <a:noFill/>
          <a:ln w="0">
            <a:noFill/>
          </a:ln>
        </p:spPr>
        <p:txBody>
          <a:bodyPr/>
          <a:lstStyle>
            <a:defPPr>
              <a:defRPr sz="3225" b="1">
                <a:solidFill>
                  <a:srgbClr val="102B46"/>
                </a:solidFill>
              </a:defRPr>
            </a:defPPr>
            <a:lvl1pPr>
              <a:defRPr sz="3225" b="1">
                <a:solidFill>
                  <a:srgbClr val="102B46"/>
                </a:solidFill>
              </a:defRPr>
            </a:lvl1pPr>
            <a:lvl2pPr>
              <a:defRPr sz="3225" b="1">
                <a:solidFill>
                  <a:srgbClr val="102B46"/>
                </a:solidFill>
              </a:defRPr>
            </a:lvl2pPr>
            <a:lvl3pPr>
              <a:defRPr sz="3225" b="1">
                <a:solidFill>
                  <a:srgbClr val="102B46"/>
                </a:solidFill>
              </a:defRPr>
            </a:lvl3pPr>
            <a:lvl4pPr>
              <a:defRPr sz="3225" b="1">
                <a:solidFill>
                  <a:srgbClr val="102B46"/>
                </a:solidFill>
              </a:defRPr>
            </a:lvl4pPr>
            <a:lvl5pPr>
              <a:defRPr sz="3225" b="1">
                <a:solidFill>
                  <a:srgbClr val="102B46"/>
                </a:solidFill>
              </a:defRPr>
            </a:lvl5pPr>
            <a:lvl6pPr>
              <a:defRPr sz="3225" b="1">
                <a:solidFill>
                  <a:srgbClr val="102B46"/>
                </a:solidFill>
              </a:defRPr>
            </a:lvl6pPr>
            <a:lvl7pPr>
              <a:defRPr sz="3225" b="1">
                <a:solidFill>
                  <a:srgbClr val="102B46"/>
                </a:solidFill>
              </a:defRPr>
            </a:lvl7pPr>
            <a:lvl8pPr>
              <a:defRPr sz="3225" b="1">
                <a:solidFill>
                  <a:srgbClr val="102B46"/>
                </a:solidFill>
              </a:defRPr>
            </a:lvl8pPr>
            <a:lvl9pPr>
              <a:defRPr sz="3225" b="1">
                <a:solidFill>
                  <a:srgbClr val="102B46"/>
                </a:solidFill>
              </a:defRPr>
            </a:lvl9pPr>
          </a:lstStyle>
          <a:p>
            <a:pPr>
              <a:defRPr sz="3225" b="1">
                <a:solidFill>
                  <a:srgbClr val="102B46"/>
                </a:solidFill>
              </a:defRPr>
            </a:pPr>
            <a:r>
              <a:rPr lang="zh-CN" sz="3225" b="1">
                <a:solidFill>
                  <a:srgbClr val="102B46"/>
                </a:solidFill>
              </a:rPr>
              <a:t>添加结构限制，超出限制给予负奖励，增强多目标探索</a:t>
            </a:r>
            <a:r>
              <a:rPr lang="zh-CN" sz="3225" b="1">
                <a:solidFill>
                  <a:srgbClr val="102B46"/>
                </a:solidFill>
              </a:rPr>
              <a:t>能力</a:t>
            </a:r>
            <a:endParaRPr lang="zh-CN" sz="3225" b="1">
              <a:solidFill>
                <a:srgbClr val="102B46"/>
              </a:solidFill>
            </a:endParaRPr>
          </a:p>
        </p:txBody>
      </p:sp>
      <p:sp>
        <p:nvSpPr>
          <p:cNvPr id="2" name="矩形 1"/>
          <p:cNvSpPr>
            <a:spLocks noGrp="1"/>
          </p:cNvSpPr>
          <p:nvPr/>
        </p:nvSpPr>
        <p:spPr>
          <a:xfrm>
            <a:off x="11144250" y="6381750"/>
            <a:ext cx="476250" cy="257175"/>
          </a:xfrm>
          <a:prstGeom prst="rect">
            <a:avLst/>
          </a:prstGeom>
          <a:noFill/>
          <a:ln w="0">
            <a:noFill/>
          </a:ln>
        </p:spPr>
        <p:txBody>
          <a:bodyPr/>
          <a:lstStyle>
            <a:defPPr>
              <a:defRPr sz="1350" b="0">
                <a:solidFill>
                  <a:srgbClr val="526574"/>
                </a:solidFill>
              </a:defRPr>
            </a:defPPr>
            <a:lvl1pPr>
              <a:defRPr sz="1350" b="0">
                <a:solidFill>
                  <a:srgbClr val="526574"/>
                </a:solidFill>
              </a:defRPr>
            </a:lvl1pPr>
            <a:lvl2pPr>
              <a:defRPr sz="1350" b="0">
                <a:solidFill>
                  <a:srgbClr val="526574"/>
                </a:solidFill>
              </a:defRPr>
            </a:lvl2pPr>
            <a:lvl3pPr>
              <a:defRPr sz="1350" b="0">
                <a:solidFill>
                  <a:srgbClr val="526574"/>
                </a:solidFill>
              </a:defRPr>
            </a:lvl3pPr>
            <a:lvl4pPr>
              <a:defRPr sz="1350" b="0">
                <a:solidFill>
                  <a:srgbClr val="526574"/>
                </a:solidFill>
              </a:defRPr>
            </a:lvl4pPr>
            <a:lvl5pPr>
              <a:defRPr sz="1350" b="0">
                <a:solidFill>
                  <a:srgbClr val="526574"/>
                </a:solidFill>
              </a:defRPr>
            </a:lvl5pPr>
            <a:lvl6pPr>
              <a:defRPr sz="1350" b="0">
                <a:solidFill>
                  <a:srgbClr val="526574"/>
                </a:solidFill>
              </a:defRPr>
            </a:lvl6pPr>
            <a:lvl7pPr>
              <a:defRPr sz="1350" b="0">
                <a:solidFill>
                  <a:srgbClr val="526574"/>
                </a:solidFill>
              </a:defRPr>
            </a:lvl7pPr>
            <a:lvl8pPr>
              <a:defRPr sz="1350" b="0">
                <a:solidFill>
                  <a:srgbClr val="526574"/>
                </a:solidFill>
              </a:defRPr>
            </a:lvl8pPr>
            <a:lvl9pPr>
              <a:defRPr sz="1350" b="0">
                <a:solidFill>
                  <a:srgbClr val="526574"/>
                </a:solidFill>
              </a:defRPr>
            </a:lvl9pPr>
          </a:lstStyle>
          <a:p>
            <a:pPr>
              <a:defRPr sz="1350" b="0">
                <a:solidFill>
                  <a:srgbClr val="526574"/>
                </a:solidFill>
              </a:defRPr>
            </a:pPr>
            <a:r>
              <a:rPr lang="en-US" sz="1350" b="0">
                <a:solidFill>
                  <a:srgbClr val="526574"/>
                </a:solidFill>
              </a:rPr>
              <a:t>9</a:t>
            </a:r>
            <a:endParaRPr lang="en-US" sz="1350" b="0">
              <a:solidFill>
                <a:srgbClr val="526574"/>
              </a:solidFill>
            </a:endParaRPr>
          </a:p>
        </p:txBody>
      </p:sp>
      <p:graphicFrame>
        <p:nvGraphicFramePr>
          <p:cNvPr id="8" name="表格 7"/>
          <p:cNvGraphicFramePr/>
          <p:nvPr/>
        </p:nvGraphicFramePr>
        <p:xfrm>
          <a:off x="673735" y="1845310"/>
          <a:ext cx="10953750" cy="2314575"/>
        </p:xfrm>
        <a:graphic>
          <a:graphicData uri="http://schemas.openxmlformats.org/drawingml/2006/table">
            <a:tbl>
              <a:tblPr/>
              <a:tblGrid>
                <a:gridCol w="2333343"/>
                <a:gridCol w="1576000"/>
                <a:gridCol w="1840514"/>
                <a:gridCol w="1840515"/>
                <a:gridCol w="1601108"/>
                <a:gridCol w="881135"/>
                <a:gridCol w="881135"/>
              </a:tblGrid>
              <a:tr h="771525">
                <a:tc>
                  <a:txBody>
                    <a:bodyPr/>
                    <a:p>
                      <a:pPr>
                        <a:buNone/>
                      </a:pPr>
                      <a:r>
                        <a:rPr lang="en-US" altLang="zh-CN" sz="1875" b="0">
                          <a:solidFill>
                            <a:srgbClr val="102B46"/>
                          </a:solidFill>
                        </a:rPr>
                        <a:t>baseline</a:t>
                      </a:r>
                      <a:endParaRPr lang="en-US" altLang="zh-CN" sz="1875" b="0">
                        <a:solidFill>
                          <a:srgbClr val="102B46"/>
                        </a:solidFill>
                      </a:endParaRPr>
                    </a:p>
                  </a:txBody>
                  <a:tcPr>
                    <a:lnL w="9525">
                      <a:solidFill>
                        <a:srgbClr val="DAE2E8"/>
                      </a:solidFill>
                      <a:prstDash val="solid"/>
                    </a:lnL>
                    <a:lnR w="9525">
                      <a:solidFill>
                        <a:srgbClr val="DAE2E8"/>
                      </a:solidFill>
                      <a:prstDash val="solid"/>
                    </a:lnR>
                    <a:lnB w="9525">
                      <a:solidFill>
                        <a:srgbClr val="DAE2E8"/>
                      </a:solidFill>
                      <a:prstDash val="solid"/>
                    </a:lnB>
                    <a:solidFill>
                      <a:srgbClr val="F1F6F8"/>
                    </a:solidFill>
                  </a:tcPr>
                </a:tc>
                <a:tc>
                  <a:txBody>
                    <a:bodyPr/>
                    <a:p>
                      <a:pPr>
                        <a:buNone/>
                      </a:pPr>
                      <a:r>
                        <a:rPr lang="en-US" altLang="zh-CN" sz="1875" b="0">
                          <a:solidFill>
                            <a:srgbClr val="102B46"/>
                          </a:solidFill>
                        </a:rPr>
                        <a:t>75.64%</a:t>
                      </a:r>
                      <a:endParaRPr lang="en-US" altLang="zh-CN" sz="1875" b="0">
                        <a:solidFill>
                          <a:srgbClr val="102B46"/>
                        </a:solidFill>
                      </a:endParaRPr>
                    </a:p>
                  </a:txBody>
                  <a:tcPr>
                    <a:lnL w="9525">
                      <a:solidFill>
                        <a:srgbClr val="DAE2E8"/>
                      </a:solidFill>
                      <a:prstDash val="solid"/>
                    </a:lnL>
                    <a:lnR w="9525">
                      <a:solidFill>
                        <a:srgbClr val="DAE2E8"/>
                      </a:solidFill>
                      <a:prstDash val="solid"/>
                    </a:lnR>
                    <a:lnB w="9525">
                      <a:solidFill>
                        <a:srgbClr val="DAE2E8"/>
                      </a:solidFill>
                      <a:prstDash val="solid"/>
                    </a:lnB>
                    <a:solidFill>
                      <a:srgbClr val="F1F6F8"/>
                    </a:solidFill>
                  </a:tcPr>
                </a:tc>
                <a:tc>
                  <a:txBody>
                    <a:bodyPr/>
                    <a:p>
                      <a:pPr>
                        <a:buNone/>
                      </a:pPr>
                      <a:r>
                        <a:rPr lang="en-US" altLang="zh-CN" sz="1875" b="0">
                          <a:solidFill>
                            <a:srgbClr val="102B46"/>
                          </a:solidFill>
                        </a:rPr>
                        <a:t>41.80%</a:t>
                      </a:r>
                      <a:endParaRPr lang="en-US" altLang="zh-CN" sz="1875" b="0">
                        <a:solidFill>
                          <a:srgbClr val="102B46"/>
                        </a:solidFill>
                      </a:endParaRPr>
                    </a:p>
                  </a:txBody>
                  <a:tcPr>
                    <a:lnR w="9525">
                      <a:solidFill>
                        <a:srgbClr val="DAE2E8"/>
                      </a:solidFill>
                      <a:prstDash val="solid"/>
                    </a:lnR>
                    <a:lnB w="9525">
                      <a:solidFill>
                        <a:srgbClr val="DAE2E8"/>
                      </a:solidFill>
                      <a:prstDash val="solid"/>
                    </a:lnB>
                    <a:solidFill>
                      <a:srgbClr val="F1F6F8"/>
                    </a:solidFill>
                  </a:tcPr>
                </a:tc>
                <a:tc>
                  <a:txBody>
                    <a:bodyPr/>
                    <a:p>
                      <a:pPr>
                        <a:buNone/>
                      </a:pPr>
                      <a:r>
                        <a:rPr lang="en-US" altLang="zh-CN" sz="1875" b="0">
                          <a:solidFill>
                            <a:srgbClr val="102B46"/>
                          </a:solidFill>
                        </a:rPr>
                        <a:t>39.16%</a:t>
                      </a:r>
                      <a:endParaRPr lang="en-US" altLang="zh-CN" sz="1875" b="0">
                        <a:solidFill>
                          <a:srgbClr val="102B46"/>
                        </a:solidFill>
                      </a:endParaRPr>
                    </a:p>
                  </a:txBody>
                  <a:tcPr>
                    <a:lnR w="9525">
                      <a:solidFill>
                        <a:srgbClr val="DAE2E8"/>
                      </a:solidFill>
                      <a:prstDash val="solid"/>
                    </a:lnR>
                    <a:lnB w="9525">
                      <a:solidFill>
                        <a:srgbClr val="DAE2E8"/>
                      </a:solidFill>
                      <a:prstDash val="solid"/>
                    </a:lnB>
                    <a:solidFill>
                      <a:srgbClr val="F1F6F8"/>
                    </a:solidFill>
                  </a:tcPr>
                </a:tc>
                <a:tc>
                  <a:txBody>
                    <a:bodyPr/>
                    <a:p>
                      <a:pPr>
                        <a:buNone/>
                      </a:pPr>
                      <a:r>
                        <a:rPr lang="en-US" altLang="zh-CN" sz="1875" b="0">
                          <a:solidFill>
                            <a:srgbClr val="102B46"/>
                          </a:solidFill>
                        </a:rPr>
                        <a:t>88.55%</a:t>
                      </a:r>
                      <a:endParaRPr lang="en-US" altLang="zh-CN" sz="1875" b="0">
                        <a:solidFill>
                          <a:srgbClr val="102B46"/>
                        </a:solidFill>
                      </a:endParaRPr>
                    </a:p>
                  </a:txBody>
                  <a:tcPr>
                    <a:lnR w="9525">
                      <a:solidFill>
                        <a:srgbClr val="DAE2E8"/>
                      </a:solidFill>
                      <a:prstDash val="solid"/>
                    </a:lnR>
                    <a:lnB w="9525">
                      <a:solidFill>
                        <a:srgbClr val="DAE2E8"/>
                      </a:solidFill>
                      <a:prstDash val="solid"/>
                    </a:lnB>
                    <a:solidFill>
                      <a:srgbClr val="F1F6F8"/>
                    </a:solidFill>
                  </a:tcPr>
                </a:tc>
                <a:tc>
                  <a:txBody>
                    <a:bodyPr/>
                    <a:p>
                      <a:pPr>
                        <a:buNone/>
                      </a:pPr>
                      <a:r>
                        <a:rPr lang="en-US" altLang="zh-CN" sz="1875" b="0">
                          <a:solidFill>
                            <a:srgbClr val="102B46"/>
                          </a:solidFill>
                        </a:rPr>
                        <a:t>42</a:t>
                      </a:r>
                      <a:endParaRPr lang="en-US" altLang="zh-CN" sz="1875" b="0">
                        <a:solidFill>
                          <a:srgbClr val="102B46"/>
                        </a:solidFill>
                      </a:endParaRPr>
                    </a:p>
                  </a:txBody>
                  <a:tcPr>
                    <a:lnR w="9525">
                      <a:solidFill>
                        <a:srgbClr val="DAE2E8"/>
                      </a:solidFill>
                      <a:prstDash val="solid"/>
                    </a:lnR>
                    <a:lnB w="9525">
                      <a:solidFill>
                        <a:srgbClr val="DAE2E8"/>
                      </a:solidFill>
                      <a:prstDash val="solid"/>
                    </a:lnB>
                    <a:solidFill>
                      <a:srgbClr val="F1F6F8"/>
                    </a:solidFill>
                  </a:tcPr>
                </a:tc>
                <a:tc>
                  <a:txBody>
                    <a:bodyPr/>
                    <a:p>
                      <a:pPr>
                        <a:buNone/>
                      </a:pPr>
                      <a:r>
                        <a:rPr lang="en-US" altLang="zh-CN" sz="1875" b="0">
                          <a:solidFill>
                            <a:srgbClr val="102B46"/>
                          </a:solidFill>
                        </a:rPr>
                        <a:t>14.4</a:t>
                      </a:r>
                      <a:endParaRPr lang="en-US" altLang="zh-CN" sz="1875" b="0">
                        <a:solidFill>
                          <a:srgbClr val="102B46"/>
                        </a:solidFill>
                      </a:endParaRPr>
                    </a:p>
                  </a:txBody>
                  <a:tcPr>
                    <a:lnR w="9525">
                      <a:solidFill>
                        <a:srgbClr val="DAE2E8"/>
                      </a:solidFill>
                      <a:prstDash val="solid"/>
                    </a:lnR>
                    <a:lnB w="9525">
                      <a:solidFill>
                        <a:srgbClr val="DAE2E8"/>
                      </a:solidFill>
                      <a:prstDash val="solid"/>
                    </a:lnB>
                    <a:solidFill>
                      <a:srgbClr val="F1F6F8"/>
                    </a:solidFill>
                  </a:tcPr>
                </a:tc>
              </a:tr>
              <a:tr h="771525">
                <a:tc>
                  <a:txBody>
                    <a:bodyPr/>
                    <a:p>
                      <a:pPr>
                        <a:buNone/>
                      </a:pPr>
                      <a:r>
                        <a:rPr lang="en-US" altLang="zh-CN" sz="1875" b="0">
                          <a:solidFill>
                            <a:srgbClr val="102B46"/>
                          </a:solidFill>
                        </a:rPr>
                        <a:t>limited</a:t>
                      </a:r>
                      <a:endParaRPr lang="en-US" altLang="zh-CN" sz="1875" b="0">
                        <a:solidFill>
                          <a:srgbClr val="102B46"/>
                        </a:solidFill>
                      </a:endParaRPr>
                    </a:p>
                  </a:txBody>
                  <a:tcPr>
                    <a:lnL w="9525">
                      <a:solidFill>
                        <a:srgbClr val="DAE2E8"/>
                      </a:solidFill>
                      <a:prstDash val="solid"/>
                    </a:lnL>
                    <a:lnR w="9525">
                      <a:solidFill>
                        <a:srgbClr val="DAE2E8"/>
                      </a:solidFill>
                      <a:prstDash val="solid"/>
                    </a:lnR>
                    <a:lnB w="9525">
                      <a:solidFill>
                        <a:srgbClr val="DAE2E8"/>
                      </a:solidFill>
                      <a:prstDash val="solid"/>
                    </a:lnB>
                    <a:solidFill>
                      <a:srgbClr val="F1F6F8"/>
                    </a:solidFill>
                  </a:tcPr>
                </a:tc>
                <a:tc>
                  <a:txBody>
                    <a:bodyPr/>
                    <a:p>
                      <a:pPr>
                        <a:buNone/>
                      </a:pPr>
                      <a:r>
                        <a:rPr lang="en-US" altLang="zh-CN" sz="1875" b="0">
                          <a:solidFill>
                            <a:srgbClr val="102B46"/>
                          </a:solidFill>
                        </a:rPr>
                        <a:t>82.53%</a:t>
                      </a:r>
                      <a:endParaRPr lang="en-US" altLang="zh-CN" sz="1875" b="0">
                        <a:solidFill>
                          <a:srgbClr val="102B46"/>
                        </a:solidFill>
                      </a:endParaRPr>
                    </a:p>
                  </a:txBody>
                  <a:tcPr>
                    <a:lnL w="9525">
                      <a:solidFill>
                        <a:srgbClr val="DAE2E8"/>
                      </a:solidFill>
                      <a:prstDash val="solid"/>
                    </a:lnL>
                    <a:lnR w="9525">
                      <a:solidFill>
                        <a:srgbClr val="DAE2E8"/>
                      </a:solidFill>
                      <a:prstDash val="solid"/>
                    </a:lnR>
                    <a:lnB w="9525">
                      <a:solidFill>
                        <a:srgbClr val="DAE2E8"/>
                      </a:solidFill>
                      <a:prstDash val="solid"/>
                    </a:lnB>
                    <a:solidFill>
                      <a:srgbClr val="F1F6F8"/>
                    </a:solidFill>
                  </a:tcPr>
                </a:tc>
                <a:tc>
                  <a:txBody>
                    <a:bodyPr/>
                    <a:p>
                      <a:pPr>
                        <a:buNone/>
                      </a:pPr>
                      <a:r>
                        <a:rPr lang="en-US" altLang="zh-CN" sz="1875" b="0">
                          <a:solidFill>
                            <a:srgbClr val="102B46"/>
                          </a:solidFill>
                        </a:rPr>
                        <a:t>56.11%</a:t>
                      </a:r>
                      <a:endParaRPr lang="en-US" altLang="zh-CN" sz="1875" b="0">
                        <a:solidFill>
                          <a:srgbClr val="102B46"/>
                        </a:solidFill>
                      </a:endParaRPr>
                    </a:p>
                  </a:txBody>
                  <a:tcPr>
                    <a:lnR w="9525">
                      <a:solidFill>
                        <a:srgbClr val="DAE2E8"/>
                      </a:solidFill>
                      <a:prstDash val="solid"/>
                    </a:lnR>
                    <a:lnB w="9525">
                      <a:solidFill>
                        <a:srgbClr val="DAE2E8"/>
                      </a:solidFill>
                      <a:prstDash val="solid"/>
                    </a:lnB>
                    <a:solidFill>
                      <a:srgbClr val="F1F6F8"/>
                    </a:solidFill>
                  </a:tcPr>
                </a:tc>
                <a:tc>
                  <a:txBody>
                    <a:bodyPr/>
                    <a:p>
                      <a:pPr>
                        <a:buNone/>
                      </a:pPr>
                      <a:r>
                        <a:rPr lang="en-US" altLang="zh-CN" sz="1875" b="0">
                          <a:solidFill>
                            <a:srgbClr val="102B46"/>
                          </a:solidFill>
                        </a:rPr>
                        <a:t>43.88%</a:t>
                      </a:r>
                      <a:endParaRPr lang="en-US" altLang="zh-CN" sz="1875" b="0">
                        <a:solidFill>
                          <a:srgbClr val="102B46"/>
                        </a:solidFill>
                      </a:endParaRPr>
                    </a:p>
                  </a:txBody>
                  <a:tcPr>
                    <a:lnR w="9525">
                      <a:solidFill>
                        <a:srgbClr val="DAE2E8"/>
                      </a:solidFill>
                      <a:prstDash val="solid"/>
                    </a:lnR>
                    <a:lnB w="9525">
                      <a:solidFill>
                        <a:srgbClr val="DAE2E8"/>
                      </a:solidFill>
                      <a:prstDash val="solid"/>
                    </a:lnB>
                    <a:solidFill>
                      <a:srgbClr val="F1F6F8"/>
                    </a:solidFill>
                  </a:tcPr>
                </a:tc>
                <a:tc>
                  <a:txBody>
                    <a:bodyPr/>
                    <a:p>
                      <a:pPr>
                        <a:buNone/>
                      </a:pPr>
                      <a:r>
                        <a:rPr lang="en-US" altLang="zh-CN" sz="1875" b="0">
                          <a:solidFill>
                            <a:srgbClr val="102B46"/>
                          </a:solidFill>
                        </a:rPr>
                        <a:t>87.09%</a:t>
                      </a:r>
                      <a:endParaRPr lang="en-US" altLang="zh-CN" sz="1875" b="0">
                        <a:solidFill>
                          <a:srgbClr val="102B46"/>
                        </a:solidFill>
                      </a:endParaRPr>
                    </a:p>
                  </a:txBody>
                  <a:tcPr>
                    <a:lnR w="9525">
                      <a:solidFill>
                        <a:srgbClr val="DAE2E8"/>
                      </a:solidFill>
                      <a:prstDash val="solid"/>
                    </a:lnR>
                    <a:lnB w="9525">
                      <a:solidFill>
                        <a:srgbClr val="DAE2E8"/>
                      </a:solidFill>
                      <a:prstDash val="solid"/>
                    </a:lnB>
                    <a:solidFill>
                      <a:srgbClr val="F1F6F8"/>
                    </a:solidFill>
                  </a:tcPr>
                </a:tc>
                <a:tc>
                  <a:txBody>
                    <a:bodyPr/>
                    <a:p>
                      <a:pPr>
                        <a:buNone/>
                      </a:pPr>
                      <a:r>
                        <a:rPr lang="en-US" altLang="zh-CN" sz="1875" b="0">
                          <a:solidFill>
                            <a:srgbClr val="102B46"/>
                          </a:solidFill>
                        </a:rPr>
                        <a:t>22</a:t>
                      </a:r>
                      <a:endParaRPr lang="en-US" altLang="zh-CN" sz="1875" b="0">
                        <a:solidFill>
                          <a:srgbClr val="102B46"/>
                        </a:solidFill>
                      </a:endParaRPr>
                    </a:p>
                  </a:txBody>
                  <a:tcPr>
                    <a:lnR w="9525">
                      <a:solidFill>
                        <a:srgbClr val="DAE2E8"/>
                      </a:solidFill>
                      <a:prstDash val="solid"/>
                    </a:lnR>
                    <a:lnB w="9525">
                      <a:solidFill>
                        <a:srgbClr val="DAE2E8"/>
                      </a:solidFill>
                      <a:prstDash val="solid"/>
                    </a:lnB>
                    <a:solidFill>
                      <a:srgbClr val="F1F6F8"/>
                    </a:solidFill>
                  </a:tcPr>
                </a:tc>
                <a:tc>
                  <a:txBody>
                    <a:bodyPr/>
                    <a:p>
                      <a:pPr>
                        <a:buNone/>
                      </a:pPr>
                      <a:r>
                        <a:rPr lang="en-US" altLang="zh-CN" sz="1875" b="0">
                          <a:solidFill>
                            <a:srgbClr val="102B46"/>
                          </a:solidFill>
                        </a:rPr>
                        <a:t>8.00</a:t>
                      </a:r>
                      <a:endParaRPr lang="en-US" altLang="zh-CN" sz="1875" b="0">
                        <a:solidFill>
                          <a:srgbClr val="102B46"/>
                        </a:solidFill>
                      </a:endParaRPr>
                    </a:p>
                  </a:txBody>
                  <a:tcPr>
                    <a:lnR w="9525">
                      <a:solidFill>
                        <a:srgbClr val="DAE2E8"/>
                      </a:solidFill>
                      <a:prstDash val="solid"/>
                    </a:lnR>
                    <a:lnB w="9525">
                      <a:solidFill>
                        <a:srgbClr val="DAE2E8"/>
                      </a:solidFill>
                      <a:prstDash val="solid"/>
                    </a:lnB>
                    <a:solidFill>
                      <a:srgbClr val="F1F6F8"/>
                    </a:solidFill>
                  </a:tcPr>
                </a:tc>
              </a:tr>
              <a:tr h="771525">
                <a:tc>
                  <a:txBody>
                    <a:bodyPr/>
                    <a:p>
                      <a:pPr>
                        <a:buNone/>
                      </a:pPr>
                      <a:r>
                        <a:rPr lang="en-US" altLang="zh-CN" sz="1875" b="0">
                          <a:solidFill>
                            <a:srgbClr val="102B46"/>
                          </a:solidFill>
                        </a:rPr>
                        <a:t>improved_limited</a:t>
                      </a:r>
                      <a:endParaRPr lang="en-US" altLang="zh-CN" sz="1875" b="0">
                        <a:solidFill>
                          <a:srgbClr val="102B46"/>
                        </a:solidFill>
                      </a:endParaRPr>
                    </a:p>
                  </a:txBody>
                  <a:tcPr>
                    <a:lnL w="9525">
                      <a:solidFill>
                        <a:srgbClr val="DAE2E8"/>
                      </a:solidFill>
                      <a:prstDash val="solid"/>
                    </a:lnL>
                    <a:lnR w="9525">
                      <a:solidFill>
                        <a:srgbClr val="DAE2E8"/>
                      </a:solidFill>
                      <a:prstDash val="solid"/>
                    </a:lnR>
                    <a:lnB w="9525">
                      <a:solidFill>
                        <a:srgbClr val="DAE2E8"/>
                      </a:solidFill>
                      <a:prstDash val="solid"/>
                    </a:lnB>
                    <a:solidFill>
                      <a:srgbClr val="F1F6F8"/>
                    </a:solidFill>
                  </a:tcPr>
                </a:tc>
                <a:tc>
                  <a:txBody>
                    <a:bodyPr/>
                    <a:p>
                      <a:pPr>
                        <a:buNone/>
                      </a:pPr>
                      <a:r>
                        <a:rPr lang="en-US" altLang="zh-CN" sz="1875" b="0">
                          <a:solidFill>
                            <a:srgbClr val="102B46"/>
                          </a:solidFill>
                        </a:rPr>
                        <a:t>82.90%</a:t>
                      </a:r>
                      <a:endParaRPr lang="en-US" altLang="zh-CN" sz="1875" b="0">
                        <a:solidFill>
                          <a:srgbClr val="102B46"/>
                        </a:solidFill>
                      </a:endParaRPr>
                    </a:p>
                  </a:txBody>
                  <a:tcPr>
                    <a:lnL w="9525">
                      <a:solidFill>
                        <a:srgbClr val="DAE2E8"/>
                      </a:solidFill>
                      <a:prstDash val="solid"/>
                    </a:lnL>
                    <a:lnR w="9525">
                      <a:solidFill>
                        <a:srgbClr val="DAE2E8"/>
                      </a:solidFill>
                      <a:prstDash val="solid"/>
                    </a:lnR>
                    <a:lnB w="9525">
                      <a:solidFill>
                        <a:srgbClr val="DAE2E8"/>
                      </a:solidFill>
                      <a:prstDash val="solid"/>
                    </a:lnB>
                    <a:solidFill>
                      <a:srgbClr val="F1F6F8"/>
                    </a:solidFill>
                  </a:tcPr>
                </a:tc>
                <a:tc>
                  <a:txBody>
                    <a:bodyPr/>
                    <a:p>
                      <a:pPr>
                        <a:buNone/>
                      </a:pPr>
                      <a:r>
                        <a:rPr lang="en-US" altLang="zh-CN" sz="1875" b="0">
                          <a:solidFill>
                            <a:srgbClr val="102B46"/>
                          </a:solidFill>
                        </a:rPr>
                        <a:t>41.58%</a:t>
                      </a:r>
                      <a:endParaRPr lang="en-US" altLang="zh-CN" sz="1875" b="0">
                        <a:solidFill>
                          <a:srgbClr val="102B46"/>
                        </a:solidFill>
                      </a:endParaRPr>
                    </a:p>
                  </a:txBody>
                  <a:tcPr>
                    <a:lnR w="9525">
                      <a:solidFill>
                        <a:srgbClr val="DAE2E8"/>
                      </a:solidFill>
                      <a:prstDash val="solid"/>
                    </a:lnR>
                    <a:lnB w="9525">
                      <a:solidFill>
                        <a:srgbClr val="DAE2E8"/>
                      </a:solidFill>
                      <a:prstDash val="solid"/>
                    </a:lnB>
                    <a:solidFill>
                      <a:srgbClr val="F1F6F8"/>
                    </a:solidFill>
                  </a:tcPr>
                </a:tc>
                <a:tc>
                  <a:txBody>
                    <a:bodyPr/>
                    <a:p>
                      <a:pPr>
                        <a:buNone/>
                      </a:pPr>
                      <a:r>
                        <a:rPr lang="en-US" altLang="zh-CN" sz="1875" b="0">
                          <a:solidFill>
                            <a:srgbClr val="102B46"/>
                          </a:solidFill>
                        </a:rPr>
                        <a:t>57.05%</a:t>
                      </a:r>
                      <a:endParaRPr lang="en-US" altLang="zh-CN" sz="1875" b="0">
                        <a:solidFill>
                          <a:srgbClr val="102B46"/>
                        </a:solidFill>
                      </a:endParaRPr>
                    </a:p>
                  </a:txBody>
                  <a:tcPr>
                    <a:lnR w="9525">
                      <a:solidFill>
                        <a:srgbClr val="DAE2E8"/>
                      </a:solidFill>
                      <a:prstDash val="solid"/>
                    </a:lnR>
                    <a:lnB w="9525">
                      <a:solidFill>
                        <a:srgbClr val="DAE2E8"/>
                      </a:solidFill>
                      <a:prstDash val="solid"/>
                    </a:lnB>
                    <a:solidFill>
                      <a:srgbClr val="F1F6F8"/>
                    </a:solidFill>
                  </a:tcPr>
                </a:tc>
                <a:tc>
                  <a:txBody>
                    <a:bodyPr/>
                    <a:p>
                      <a:pPr>
                        <a:buNone/>
                      </a:pPr>
                      <a:r>
                        <a:rPr lang="en-US" altLang="zh-CN" sz="1875" b="0">
                          <a:solidFill>
                            <a:srgbClr val="102B46"/>
                          </a:solidFill>
                        </a:rPr>
                        <a:t>87.49%</a:t>
                      </a:r>
                      <a:endParaRPr lang="en-US" altLang="zh-CN" sz="1875" b="0">
                        <a:solidFill>
                          <a:srgbClr val="102B46"/>
                        </a:solidFill>
                      </a:endParaRPr>
                    </a:p>
                  </a:txBody>
                  <a:tcPr>
                    <a:lnR w="9525">
                      <a:solidFill>
                        <a:srgbClr val="DAE2E8"/>
                      </a:solidFill>
                      <a:prstDash val="solid"/>
                    </a:lnR>
                    <a:lnB w="9525">
                      <a:solidFill>
                        <a:srgbClr val="DAE2E8"/>
                      </a:solidFill>
                      <a:prstDash val="solid"/>
                    </a:lnB>
                    <a:solidFill>
                      <a:srgbClr val="F1F6F8"/>
                    </a:solidFill>
                  </a:tcPr>
                </a:tc>
                <a:tc>
                  <a:txBody>
                    <a:bodyPr/>
                    <a:p>
                      <a:pPr>
                        <a:buNone/>
                      </a:pPr>
                      <a:r>
                        <a:rPr lang="en-US" altLang="zh-CN" sz="1875" b="0">
                          <a:solidFill>
                            <a:srgbClr val="102B46"/>
                          </a:solidFill>
                        </a:rPr>
                        <a:t>27</a:t>
                      </a:r>
                      <a:endParaRPr lang="en-US" altLang="zh-CN" sz="1875" b="0">
                        <a:solidFill>
                          <a:srgbClr val="102B46"/>
                        </a:solidFill>
                      </a:endParaRPr>
                    </a:p>
                  </a:txBody>
                  <a:tcPr>
                    <a:lnR w="9525">
                      <a:solidFill>
                        <a:srgbClr val="DAE2E8"/>
                      </a:solidFill>
                      <a:prstDash val="solid"/>
                    </a:lnR>
                    <a:lnB w="9525">
                      <a:solidFill>
                        <a:srgbClr val="DAE2E8"/>
                      </a:solidFill>
                      <a:prstDash val="solid"/>
                    </a:lnB>
                    <a:solidFill>
                      <a:srgbClr val="F1F6F8"/>
                    </a:solidFill>
                  </a:tcPr>
                </a:tc>
                <a:tc>
                  <a:txBody>
                    <a:bodyPr/>
                    <a:p>
                      <a:pPr>
                        <a:buNone/>
                      </a:pPr>
                      <a:r>
                        <a:rPr lang="en-US" altLang="zh-CN" sz="1875" b="0">
                          <a:solidFill>
                            <a:srgbClr val="102B46"/>
                          </a:solidFill>
                        </a:rPr>
                        <a:t>9.89</a:t>
                      </a:r>
                      <a:endParaRPr lang="en-US" altLang="zh-CN" sz="1875" b="0">
                        <a:solidFill>
                          <a:srgbClr val="102B46"/>
                        </a:solidFill>
                      </a:endParaRPr>
                    </a:p>
                  </a:txBody>
                  <a:tcPr>
                    <a:lnR w="9525">
                      <a:solidFill>
                        <a:srgbClr val="DAE2E8"/>
                      </a:solidFill>
                      <a:prstDash val="solid"/>
                    </a:lnR>
                    <a:lnB w="9525">
                      <a:solidFill>
                        <a:srgbClr val="DAE2E8"/>
                      </a:solidFill>
                      <a:prstDash val="solid"/>
                    </a:lnB>
                    <a:solidFill>
                      <a:srgbClr val="F1F6F8"/>
                    </a:solidFill>
                  </a:tcPr>
                </a:tc>
              </a:tr>
            </a:tbl>
          </a:graphicData>
        </a:graphic>
      </p:graphicFrame>
      <p:graphicFrame>
        <p:nvGraphicFramePr>
          <p:cNvPr id="9" name="表格 8"/>
          <p:cNvGraphicFramePr/>
          <p:nvPr/>
        </p:nvGraphicFramePr>
        <p:xfrm>
          <a:off x="666750" y="1196975"/>
          <a:ext cx="10953750" cy="563245"/>
        </p:xfrm>
        <a:graphic>
          <a:graphicData uri="http://schemas.openxmlformats.org/drawingml/2006/table">
            <a:tbl>
              <a:tblPr/>
              <a:tblGrid>
                <a:gridCol w="2333343"/>
                <a:gridCol w="1576000"/>
                <a:gridCol w="1840514"/>
                <a:gridCol w="1840515"/>
                <a:gridCol w="1601108"/>
                <a:gridCol w="881135"/>
                <a:gridCol w="881135"/>
              </a:tblGrid>
              <a:tr h="563245">
                <a:tc>
                  <a:txBody>
                    <a:bodyPr/>
                    <a:lstStyle/>
                    <a:p>
                      <a:r>
                        <a:rPr sz="1875" b="1">
                          <a:solidFill>
                            <a:srgbClr val="FFFFFF"/>
                          </a:solidFill>
                        </a:rPr>
                        <a:t>实验</a:t>
                      </a:r>
                      <a:endParaRPr sz="1875" b="1">
                        <a:solidFill>
                          <a:srgbClr val="FFFFFF"/>
                        </a:solidFill>
                      </a:endParaRPr>
                    </a:p>
                  </a:txBody>
                  <a:tcPr>
                    <a:lnL w="9525">
                      <a:solidFill>
                        <a:srgbClr val="DAE2E8"/>
                      </a:solidFill>
                      <a:prstDash val="solid"/>
                    </a:lnL>
                    <a:lnR w="9525">
                      <a:solidFill>
                        <a:srgbClr val="DAE2E8"/>
                      </a:solidFill>
                      <a:prstDash val="solid"/>
                    </a:lnR>
                    <a:lnT w="9525">
                      <a:solidFill>
                        <a:srgbClr val="DAE2E8"/>
                      </a:solidFill>
                      <a:prstDash val="solid"/>
                    </a:lnT>
                    <a:lnB w="9525">
                      <a:solidFill>
                        <a:srgbClr val="DAE2E8"/>
                      </a:solidFill>
                      <a:prstDash val="solid"/>
                    </a:lnB>
                    <a:solidFill>
                      <a:srgbClr val="102B46"/>
                    </a:solidFill>
                  </a:tcPr>
                </a:tc>
                <a:tc>
                  <a:txBody>
                    <a:bodyPr/>
                    <a:p>
                      <a:pPr>
                        <a:buNone/>
                      </a:pPr>
                      <a:r>
                        <a:rPr lang="zh-CN" altLang="en-US" sz="1875" b="1">
                          <a:solidFill>
                            <a:srgbClr val="FFFFFF"/>
                          </a:solidFill>
                        </a:rPr>
                        <a:t>紫外平均</a:t>
                      </a:r>
                      <a:r>
                        <a:rPr lang="en-US" altLang="zh-CN" sz="1875" b="1">
                          <a:solidFill>
                            <a:srgbClr val="FFFFFF"/>
                          </a:solidFill>
                        </a:rPr>
                        <a:t>R1</a:t>
                      </a:r>
                      <a:endParaRPr lang="en-US" altLang="zh-CN" sz="1875" b="1">
                        <a:solidFill>
                          <a:srgbClr val="FFFFFF"/>
                        </a:solidFill>
                      </a:endParaRPr>
                    </a:p>
                  </a:txBody>
                  <a:tcPr>
                    <a:lnL w="9525">
                      <a:solidFill>
                        <a:srgbClr val="DAE2E8"/>
                      </a:solidFill>
                      <a:prstDash val="solid"/>
                    </a:lnL>
                    <a:lnR w="9525">
                      <a:solidFill>
                        <a:srgbClr val="DAE2E8"/>
                      </a:solidFill>
                      <a:prstDash val="solid"/>
                    </a:lnR>
                    <a:lnT w="9525">
                      <a:solidFill>
                        <a:srgbClr val="DAE2E8"/>
                      </a:solidFill>
                      <a:prstDash val="solid"/>
                    </a:lnT>
                    <a:lnB w="9525">
                      <a:solidFill>
                        <a:srgbClr val="DAE2E8"/>
                      </a:solidFill>
                      <a:prstDash val="solid"/>
                    </a:lnB>
                    <a:solidFill>
                      <a:srgbClr val="102B46"/>
                    </a:solidFill>
                  </a:tcPr>
                </a:tc>
                <a:tc>
                  <a:txBody>
                    <a:bodyPr/>
                    <a:p>
                      <a:pPr>
                        <a:buNone/>
                      </a:pPr>
                      <a:r>
                        <a:rPr lang="zh-CN" altLang="en-US" sz="1875" b="1">
                          <a:solidFill>
                            <a:srgbClr val="FFFFFF"/>
                          </a:solidFill>
                        </a:rPr>
                        <a:t>可见平均</a:t>
                      </a:r>
                      <a:r>
                        <a:rPr lang="en-US" altLang="zh-CN" sz="1875" b="1">
                          <a:solidFill>
                            <a:srgbClr val="FFFFFF"/>
                          </a:solidFill>
                        </a:rPr>
                        <a:t>R2</a:t>
                      </a:r>
                      <a:endParaRPr lang="en-US" altLang="zh-CN" sz="1875" b="1">
                        <a:solidFill>
                          <a:srgbClr val="FFFFFF"/>
                        </a:solidFill>
                      </a:endParaRPr>
                    </a:p>
                  </a:txBody>
                  <a:tcPr>
                    <a:lnR w="9525">
                      <a:solidFill>
                        <a:srgbClr val="DAE2E8"/>
                      </a:solidFill>
                      <a:prstDash val="solid"/>
                    </a:lnR>
                    <a:lnT w="9525">
                      <a:solidFill>
                        <a:srgbClr val="DAE2E8"/>
                      </a:solidFill>
                      <a:prstDash val="solid"/>
                    </a:lnT>
                    <a:lnB w="9525">
                      <a:solidFill>
                        <a:srgbClr val="DAE2E8"/>
                      </a:solidFill>
                      <a:prstDash val="solid"/>
                    </a:lnB>
                    <a:solidFill>
                      <a:srgbClr val="102B46"/>
                    </a:solidFill>
                  </a:tcPr>
                </a:tc>
                <a:tc>
                  <a:txBody>
                    <a:bodyPr/>
                    <a:lstStyle/>
                    <a:p>
                      <a:r>
                        <a:rPr sz="1875" b="1">
                          <a:solidFill>
                            <a:srgbClr val="FFFFFF"/>
                          </a:solidFill>
                        </a:rPr>
                        <a:t>可见平均 T</a:t>
                      </a:r>
                      <a:r>
                        <a:rPr lang="en-US" sz="1875" b="1">
                          <a:solidFill>
                            <a:srgbClr val="FFFFFF"/>
                          </a:solidFill>
                        </a:rPr>
                        <a:t>2</a:t>
                      </a:r>
                      <a:endParaRPr lang="en-US" sz="1875" b="1">
                        <a:solidFill>
                          <a:srgbClr val="FFFFFF"/>
                        </a:solidFill>
                      </a:endParaRPr>
                    </a:p>
                  </a:txBody>
                  <a:tcPr>
                    <a:lnR w="9525">
                      <a:solidFill>
                        <a:srgbClr val="DAE2E8"/>
                      </a:solidFill>
                      <a:prstDash val="solid"/>
                    </a:lnR>
                    <a:lnT w="9525">
                      <a:solidFill>
                        <a:srgbClr val="DAE2E8"/>
                      </a:solidFill>
                      <a:prstDash val="solid"/>
                    </a:lnT>
                    <a:lnB w="9525">
                      <a:solidFill>
                        <a:srgbClr val="DAE2E8"/>
                      </a:solidFill>
                      <a:prstDash val="solid"/>
                    </a:lnB>
                    <a:solidFill>
                      <a:srgbClr val="102B46"/>
                    </a:solidFill>
                  </a:tcPr>
                </a:tc>
                <a:tc>
                  <a:txBody>
                    <a:bodyPr/>
                    <a:lstStyle/>
                    <a:p>
                      <a:r>
                        <a:rPr sz="1875" b="1">
                          <a:solidFill>
                            <a:srgbClr val="FFFFFF"/>
                          </a:solidFill>
                        </a:rPr>
                        <a:t>红外平均 R</a:t>
                      </a:r>
                      <a:r>
                        <a:rPr lang="en-US" sz="1875" b="1">
                          <a:solidFill>
                            <a:srgbClr val="FFFFFF"/>
                          </a:solidFill>
                        </a:rPr>
                        <a:t>3</a:t>
                      </a:r>
                      <a:endParaRPr lang="en-US" sz="1875" b="1">
                        <a:solidFill>
                          <a:srgbClr val="FFFFFF"/>
                        </a:solidFill>
                      </a:endParaRPr>
                    </a:p>
                  </a:txBody>
                  <a:tcPr>
                    <a:lnR w="9525">
                      <a:solidFill>
                        <a:srgbClr val="DAE2E8"/>
                      </a:solidFill>
                      <a:prstDash val="solid"/>
                    </a:lnR>
                    <a:lnT w="9525">
                      <a:solidFill>
                        <a:srgbClr val="DAE2E8"/>
                      </a:solidFill>
                      <a:prstDash val="solid"/>
                    </a:lnT>
                    <a:lnB w="9525">
                      <a:solidFill>
                        <a:srgbClr val="DAE2E8"/>
                      </a:solidFill>
                      <a:prstDash val="solid"/>
                    </a:lnB>
                    <a:solidFill>
                      <a:srgbClr val="102B46"/>
                    </a:solidFill>
                  </a:tcPr>
                </a:tc>
                <a:tc>
                  <a:txBody>
                    <a:bodyPr/>
                    <a:lstStyle/>
                    <a:p>
                      <a:r>
                        <a:rPr sz="1875" b="1">
                          <a:solidFill>
                            <a:srgbClr val="FFFFFF"/>
                          </a:solidFill>
                        </a:rPr>
                        <a:t>层数</a:t>
                      </a:r>
                      <a:endParaRPr sz="1875" b="1">
                        <a:solidFill>
                          <a:srgbClr val="FFFFFF"/>
                        </a:solidFill>
                      </a:endParaRPr>
                    </a:p>
                  </a:txBody>
                  <a:tcPr>
                    <a:lnR w="9525">
                      <a:solidFill>
                        <a:srgbClr val="DAE2E8"/>
                      </a:solidFill>
                      <a:prstDash val="solid"/>
                    </a:lnR>
                    <a:lnT w="9525">
                      <a:solidFill>
                        <a:srgbClr val="DAE2E8"/>
                      </a:solidFill>
                      <a:prstDash val="solid"/>
                    </a:lnT>
                    <a:lnB w="9525">
                      <a:solidFill>
                        <a:srgbClr val="DAE2E8"/>
                      </a:solidFill>
                      <a:prstDash val="solid"/>
                    </a:lnB>
                    <a:solidFill>
                      <a:srgbClr val="102B46"/>
                    </a:solidFill>
                  </a:tcPr>
                </a:tc>
                <a:tc>
                  <a:txBody>
                    <a:bodyPr/>
                    <a:p>
                      <a:pPr>
                        <a:buNone/>
                      </a:pPr>
                      <a:r>
                        <a:rPr lang="zh-CN" altLang="en-US" sz="1875" b="1">
                          <a:solidFill>
                            <a:srgbClr val="FFFFFF"/>
                          </a:solidFill>
                        </a:rPr>
                        <a:t>增强因子</a:t>
                      </a:r>
                      <a:endParaRPr lang="zh-CN" altLang="en-US" sz="1875" b="1">
                        <a:solidFill>
                          <a:srgbClr val="FFFFFF"/>
                        </a:solidFill>
                      </a:endParaRPr>
                    </a:p>
                  </a:txBody>
                  <a:tcPr>
                    <a:lnR w="9525">
                      <a:solidFill>
                        <a:srgbClr val="DAE2E8"/>
                      </a:solidFill>
                      <a:prstDash val="solid"/>
                    </a:lnR>
                    <a:lnT w="9525">
                      <a:solidFill>
                        <a:srgbClr val="DAE2E8"/>
                      </a:solidFill>
                      <a:prstDash val="solid"/>
                    </a:lnT>
                    <a:lnB w="9525">
                      <a:solidFill>
                        <a:srgbClr val="DAE2E8"/>
                      </a:solidFill>
                      <a:prstDash val="solid"/>
                    </a:lnB>
                    <a:solidFill>
                      <a:srgbClr val="102B46"/>
                    </a:solidFill>
                  </a:tcPr>
                </a:tc>
              </a:tr>
            </a:tbl>
          </a:graphicData>
        </a:graphic>
      </p:graphicFrame>
      <p:sp>
        <p:nvSpPr>
          <p:cNvPr id="3" name="文本框 2"/>
          <p:cNvSpPr txBox="1"/>
          <p:nvPr/>
        </p:nvSpPr>
        <p:spPr>
          <a:xfrm>
            <a:off x="623570" y="4437380"/>
            <a:ext cx="11131550" cy="706755"/>
          </a:xfrm>
          <a:prstGeom prst="rect">
            <a:avLst/>
          </a:prstGeom>
          <a:noFill/>
        </p:spPr>
        <p:txBody>
          <a:bodyPr wrap="square" rtlCol="0">
            <a:spAutoFit/>
          </a:bodyPr>
          <a:p>
            <a:r>
              <a:rPr lang="zh-CN" altLang="en-US" sz="2000"/>
              <a:t>依旧存在问题：除了目标波段之外，还有专门评价这个任务的指标，即便各波段平均光谱差距不大，增强因子也有一定的差距。因此可以考虑把除了目标光谱之外的目标也放到奖励中</a:t>
            </a:r>
            <a:r>
              <a:rPr lang="zh-CN" altLang="en-US" sz="2000"/>
              <a:t>去。</a:t>
            </a:r>
            <a:endParaRPr lang="zh-CN" altLang="en-US" sz="200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9" name="矩形 8"/>
          <p:cNvSpPr>
            <a:spLocks noGrp="1"/>
          </p:cNvSpPr>
          <p:nvPr/>
        </p:nvSpPr>
        <p:spPr>
          <a:xfrm>
            <a:off x="571500" y="381000"/>
            <a:ext cx="11049000" cy="762000"/>
          </a:xfrm>
          <a:prstGeom prst="rect">
            <a:avLst/>
          </a:prstGeom>
          <a:noFill/>
          <a:ln w="0">
            <a:noFill/>
          </a:ln>
        </p:spPr>
        <p:txBody>
          <a:bodyPr/>
          <a:lstStyle>
            <a:defPPr>
              <a:defRPr sz="3225" b="1">
                <a:solidFill>
                  <a:srgbClr val="102B46"/>
                </a:solidFill>
              </a:defRPr>
            </a:defPPr>
            <a:lvl1pPr>
              <a:defRPr sz="3225" b="1">
                <a:solidFill>
                  <a:srgbClr val="102B46"/>
                </a:solidFill>
              </a:defRPr>
            </a:lvl1pPr>
            <a:lvl2pPr>
              <a:defRPr sz="3225" b="1">
                <a:solidFill>
                  <a:srgbClr val="102B46"/>
                </a:solidFill>
              </a:defRPr>
            </a:lvl2pPr>
            <a:lvl3pPr>
              <a:defRPr sz="3225" b="1">
                <a:solidFill>
                  <a:srgbClr val="102B46"/>
                </a:solidFill>
              </a:defRPr>
            </a:lvl3pPr>
            <a:lvl4pPr>
              <a:defRPr sz="3225" b="1">
                <a:solidFill>
                  <a:srgbClr val="102B46"/>
                </a:solidFill>
              </a:defRPr>
            </a:lvl4pPr>
            <a:lvl5pPr>
              <a:defRPr sz="3225" b="1">
                <a:solidFill>
                  <a:srgbClr val="102B46"/>
                </a:solidFill>
              </a:defRPr>
            </a:lvl5pPr>
            <a:lvl6pPr>
              <a:defRPr sz="3225" b="1">
                <a:solidFill>
                  <a:srgbClr val="102B46"/>
                </a:solidFill>
              </a:defRPr>
            </a:lvl6pPr>
            <a:lvl7pPr>
              <a:defRPr sz="3225" b="1">
                <a:solidFill>
                  <a:srgbClr val="102B46"/>
                </a:solidFill>
              </a:defRPr>
            </a:lvl7pPr>
            <a:lvl8pPr>
              <a:defRPr sz="3225" b="1">
                <a:solidFill>
                  <a:srgbClr val="102B46"/>
                </a:solidFill>
              </a:defRPr>
            </a:lvl8pPr>
            <a:lvl9pPr>
              <a:defRPr sz="3225" b="1">
                <a:solidFill>
                  <a:srgbClr val="102B46"/>
                </a:solidFill>
              </a:defRPr>
            </a:lvl9pPr>
          </a:lstStyle>
          <a:p>
            <a:pPr>
              <a:defRPr sz="3225" b="1">
                <a:solidFill>
                  <a:srgbClr val="102B46"/>
                </a:solidFill>
              </a:defRPr>
            </a:pPr>
            <a:r>
              <a:rPr lang="zh-CN" sz="3225" b="1">
                <a:solidFill>
                  <a:srgbClr val="102B46"/>
                </a:solidFill>
              </a:rPr>
              <a:t>下一步：在</a:t>
            </a:r>
            <a:r>
              <a:rPr lang="en-US" altLang="zh-CN" sz="3225" b="1">
                <a:solidFill>
                  <a:srgbClr val="102B46"/>
                </a:solidFill>
              </a:rPr>
              <a:t>baseline</a:t>
            </a:r>
            <a:r>
              <a:rPr lang="zh-CN" altLang="en-US" sz="3225" b="1">
                <a:solidFill>
                  <a:srgbClr val="102B46"/>
                </a:solidFill>
              </a:rPr>
              <a:t>下做进一步</a:t>
            </a:r>
            <a:r>
              <a:rPr lang="zh-CN" altLang="en-US" sz="3225" b="1">
                <a:solidFill>
                  <a:srgbClr val="102B46"/>
                </a:solidFill>
              </a:rPr>
              <a:t>验证</a:t>
            </a:r>
            <a:endParaRPr lang="zh-CN" altLang="en-US" sz="3225" b="1">
              <a:solidFill>
                <a:srgbClr val="102B46"/>
              </a:solidFill>
            </a:endParaRPr>
          </a:p>
        </p:txBody>
      </p:sp>
      <p:sp>
        <p:nvSpPr>
          <p:cNvPr id="2" name="矩形 1"/>
          <p:cNvSpPr>
            <a:spLocks noGrp="1"/>
          </p:cNvSpPr>
          <p:nvPr/>
        </p:nvSpPr>
        <p:spPr>
          <a:xfrm>
            <a:off x="11144250" y="6381750"/>
            <a:ext cx="476250" cy="257175"/>
          </a:xfrm>
          <a:prstGeom prst="rect">
            <a:avLst/>
          </a:prstGeom>
          <a:noFill/>
          <a:ln w="0">
            <a:noFill/>
          </a:ln>
        </p:spPr>
        <p:txBody>
          <a:bodyPr/>
          <a:lstStyle>
            <a:defPPr>
              <a:defRPr sz="1350" b="0">
                <a:solidFill>
                  <a:srgbClr val="526574"/>
                </a:solidFill>
              </a:defRPr>
            </a:defPPr>
            <a:lvl1pPr>
              <a:defRPr sz="1350" b="0">
                <a:solidFill>
                  <a:srgbClr val="526574"/>
                </a:solidFill>
              </a:defRPr>
            </a:lvl1pPr>
            <a:lvl2pPr>
              <a:defRPr sz="1350" b="0">
                <a:solidFill>
                  <a:srgbClr val="526574"/>
                </a:solidFill>
              </a:defRPr>
            </a:lvl2pPr>
            <a:lvl3pPr>
              <a:defRPr sz="1350" b="0">
                <a:solidFill>
                  <a:srgbClr val="526574"/>
                </a:solidFill>
              </a:defRPr>
            </a:lvl3pPr>
            <a:lvl4pPr>
              <a:defRPr sz="1350" b="0">
                <a:solidFill>
                  <a:srgbClr val="526574"/>
                </a:solidFill>
              </a:defRPr>
            </a:lvl4pPr>
            <a:lvl5pPr>
              <a:defRPr sz="1350" b="0">
                <a:solidFill>
                  <a:srgbClr val="526574"/>
                </a:solidFill>
              </a:defRPr>
            </a:lvl5pPr>
            <a:lvl6pPr>
              <a:defRPr sz="1350" b="0">
                <a:solidFill>
                  <a:srgbClr val="526574"/>
                </a:solidFill>
              </a:defRPr>
            </a:lvl6pPr>
            <a:lvl7pPr>
              <a:defRPr sz="1350" b="0">
                <a:solidFill>
                  <a:srgbClr val="526574"/>
                </a:solidFill>
              </a:defRPr>
            </a:lvl7pPr>
            <a:lvl8pPr>
              <a:defRPr sz="1350" b="0">
                <a:solidFill>
                  <a:srgbClr val="526574"/>
                </a:solidFill>
              </a:defRPr>
            </a:lvl8pPr>
            <a:lvl9pPr>
              <a:defRPr sz="1350" b="0">
                <a:solidFill>
                  <a:srgbClr val="526574"/>
                </a:solidFill>
              </a:defRPr>
            </a:lvl9pPr>
          </a:lstStyle>
          <a:p>
            <a:pPr>
              <a:defRPr sz="1350" b="0">
                <a:solidFill>
                  <a:srgbClr val="526574"/>
                </a:solidFill>
              </a:defRPr>
            </a:pPr>
            <a:r>
              <a:rPr sz="1350" b="0">
                <a:solidFill>
                  <a:srgbClr val="526574"/>
                </a:solidFill>
              </a:rPr>
              <a:t>15</a:t>
            </a:r>
            <a:endParaRPr sz="1350" b="0">
              <a:solidFill>
                <a:srgbClr val="526574"/>
              </a:solidFill>
            </a:endParaRPr>
          </a:p>
        </p:txBody>
      </p:sp>
      <p:sp>
        <p:nvSpPr>
          <p:cNvPr id="5" name="矩形 4"/>
          <p:cNvSpPr>
            <a:spLocks noGrp="1"/>
          </p:cNvSpPr>
          <p:nvPr>
            <p:custDataLst>
              <p:tags r:id="rId1"/>
            </p:custDataLst>
          </p:nvPr>
        </p:nvSpPr>
        <p:spPr>
          <a:xfrm>
            <a:off x="571500" y="1196975"/>
            <a:ext cx="10906125" cy="400050"/>
          </a:xfrm>
          <a:prstGeom prst="rect">
            <a:avLst/>
          </a:prstGeom>
          <a:noFill/>
          <a:ln w="0">
            <a:noFill/>
          </a:ln>
        </p:spPr>
        <p:txBody>
          <a:bodyPr/>
          <a:lstStyle>
            <a:defPPr>
              <a:defRPr sz="2175" b="1">
                <a:solidFill>
                  <a:srgbClr val="176A8A"/>
                </a:solidFill>
              </a:defRPr>
            </a:defPPr>
            <a:lvl1pPr>
              <a:defRPr sz="2175" b="1">
                <a:solidFill>
                  <a:srgbClr val="176A8A"/>
                </a:solidFill>
              </a:defRPr>
            </a:lvl1pPr>
            <a:lvl2pPr>
              <a:defRPr sz="2175" b="1">
                <a:solidFill>
                  <a:srgbClr val="176A8A"/>
                </a:solidFill>
              </a:defRPr>
            </a:lvl2pPr>
            <a:lvl3pPr>
              <a:defRPr sz="2175" b="1">
                <a:solidFill>
                  <a:srgbClr val="176A8A"/>
                </a:solidFill>
              </a:defRPr>
            </a:lvl3pPr>
            <a:lvl4pPr>
              <a:defRPr sz="2175" b="1">
                <a:solidFill>
                  <a:srgbClr val="176A8A"/>
                </a:solidFill>
              </a:defRPr>
            </a:lvl4pPr>
            <a:lvl5pPr>
              <a:defRPr sz="2175" b="1">
                <a:solidFill>
                  <a:srgbClr val="176A8A"/>
                </a:solidFill>
              </a:defRPr>
            </a:lvl5pPr>
            <a:lvl6pPr>
              <a:defRPr sz="2175" b="1">
                <a:solidFill>
                  <a:srgbClr val="176A8A"/>
                </a:solidFill>
              </a:defRPr>
            </a:lvl6pPr>
            <a:lvl7pPr>
              <a:defRPr sz="2175" b="1">
                <a:solidFill>
                  <a:srgbClr val="176A8A"/>
                </a:solidFill>
              </a:defRPr>
            </a:lvl7pPr>
            <a:lvl8pPr>
              <a:defRPr sz="2175" b="1">
                <a:solidFill>
                  <a:srgbClr val="176A8A"/>
                </a:solidFill>
              </a:defRPr>
            </a:lvl8pPr>
            <a:lvl9pPr>
              <a:defRPr sz="2175" b="1">
                <a:solidFill>
                  <a:srgbClr val="176A8A"/>
                </a:solidFill>
              </a:defRPr>
            </a:lvl9pPr>
          </a:lstStyle>
          <a:p>
            <a:pPr>
              <a:defRPr sz="2175" b="1">
                <a:solidFill>
                  <a:srgbClr val="176A8A"/>
                </a:solidFill>
              </a:defRPr>
            </a:pPr>
            <a:r>
              <a:rPr lang="en-US" sz="2175" b="1">
                <a:solidFill>
                  <a:srgbClr val="176A8A"/>
                </a:solidFill>
              </a:rPr>
              <a:t>1.</a:t>
            </a:r>
            <a:r>
              <a:rPr sz="2175" b="1">
                <a:solidFill>
                  <a:srgbClr val="176A8A"/>
                </a:solidFill>
              </a:rPr>
              <a:t>验证 HPPO 是否提供更好的搜索起点</a:t>
            </a:r>
            <a:endParaRPr sz="2175" b="1">
              <a:solidFill>
                <a:srgbClr val="176A8A"/>
              </a:solidFill>
            </a:endParaRPr>
          </a:p>
        </p:txBody>
      </p:sp>
      <p:sp>
        <p:nvSpPr>
          <p:cNvPr id="7" name="矩形 6"/>
          <p:cNvSpPr>
            <a:spLocks noGrp="1"/>
          </p:cNvSpPr>
          <p:nvPr>
            <p:custDataLst>
              <p:tags r:id="rId2"/>
            </p:custDataLst>
          </p:nvPr>
        </p:nvSpPr>
        <p:spPr>
          <a:xfrm>
            <a:off x="571500" y="2420620"/>
            <a:ext cx="10906125" cy="400050"/>
          </a:xfrm>
          <a:prstGeom prst="rect">
            <a:avLst/>
          </a:prstGeom>
          <a:noFill/>
          <a:ln w="0">
            <a:noFill/>
          </a:ln>
        </p:spPr>
        <p:txBody>
          <a:bodyPr/>
          <a:lstStyle>
            <a:defPPr>
              <a:defRPr sz="2175" b="1">
                <a:solidFill>
                  <a:srgbClr val="176A8A"/>
                </a:solidFill>
              </a:defRPr>
            </a:defPPr>
            <a:lvl1pPr>
              <a:defRPr sz="2175" b="1">
                <a:solidFill>
                  <a:srgbClr val="176A8A"/>
                </a:solidFill>
              </a:defRPr>
            </a:lvl1pPr>
            <a:lvl2pPr>
              <a:defRPr sz="2175" b="1">
                <a:solidFill>
                  <a:srgbClr val="176A8A"/>
                </a:solidFill>
              </a:defRPr>
            </a:lvl2pPr>
            <a:lvl3pPr>
              <a:defRPr sz="2175" b="1">
                <a:solidFill>
                  <a:srgbClr val="176A8A"/>
                </a:solidFill>
              </a:defRPr>
            </a:lvl3pPr>
            <a:lvl4pPr>
              <a:defRPr sz="2175" b="1">
                <a:solidFill>
                  <a:srgbClr val="176A8A"/>
                </a:solidFill>
              </a:defRPr>
            </a:lvl4pPr>
            <a:lvl5pPr>
              <a:defRPr sz="2175" b="1">
                <a:solidFill>
                  <a:srgbClr val="176A8A"/>
                </a:solidFill>
              </a:defRPr>
            </a:lvl5pPr>
            <a:lvl6pPr>
              <a:defRPr sz="2175" b="1">
                <a:solidFill>
                  <a:srgbClr val="176A8A"/>
                </a:solidFill>
              </a:defRPr>
            </a:lvl6pPr>
            <a:lvl7pPr>
              <a:defRPr sz="2175" b="1">
                <a:solidFill>
                  <a:srgbClr val="176A8A"/>
                </a:solidFill>
              </a:defRPr>
            </a:lvl7pPr>
            <a:lvl8pPr>
              <a:defRPr sz="2175" b="1">
                <a:solidFill>
                  <a:srgbClr val="176A8A"/>
                </a:solidFill>
              </a:defRPr>
            </a:lvl8pPr>
            <a:lvl9pPr>
              <a:defRPr sz="2175" b="1">
                <a:solidFill>
                  <a:srgbClr val="176A8A"/>
                </a:solidFill>
              </a:defRPr>
            </a:lvl9pPr>
          </a:lstStyle>
          <a:p>
            <a:pPr>
              <a:defRPr sz="2175" b="1">
                <a:solidFill>
                  <a:srgbClr val="176A8A"/>
                </a:solidFill>
              </a:defRPr>
            </a:pPr>
            <a:r>
              <a:rPr lang="en-US" sz="2175" b="1">
                <a:solidFill>
                  <a:srgbClr val="176A8A"/>
                </a:solidFill>
              </a:rPr>
              <a:t>2.</a:t>
            </a:r>
            <a:r>
              <a:rPr lang="zh-CN" altLang="en-US" sz="2175" b="1">
                <a:solidFill>
                  <a:srgbClr val="176A8A"/>
                </a:solidFill>
              </a:rPr>
              <a:t>验证模型运行的稳定性，重新使用调整之后的模型运行</a:t>
            </a:r>
            <a:r>
              <a:rPr lang="zh-CN" altLang="en-US" sz="2175" b="1">
                <a:solidFill>
                  <a:srgbClr val="176A8A"/>
                </a:solidFill>
              </a:rPr>
              <a:t>前边的任务</a:t>
            </a:r>
            <a:endParaRPr lang="zh-CN" altLang="en-US" sz="2175" b="1">
              <a:solidFill>
                <a:srgbClr val="176A8A"/>
              </a:solidFill>
            </a:endParaRPr>
          </a:p>
        </p:txBody>
      </p:sp>
      <p:sp>
        <p:nvSpPr>
          <p:cNvPr id="8" name="矩形 7"/>
          <p:cNvSpPr>
            <a:spLocks noGrp="1"/>
          </p:cNvSpPr>
          <p:nvPr>
            <p:custDataLst>
              <p:tags r:id="rId3"/>
            </p:custDataLst>
          </p:nvPr>
        </p:nvSpPr>
        <p:spPr>
          <a:xfrm>
            <a:off x="571500" y="3644900"/>
            <a:ext cx="10906125" cy="400050"/>
          </a:xfrm>
          <a:prstGeom prst="rect">
            <a:avLst/>
          </a:prstGeom>
          <a:noFill/>
          <a:ln w="0">
            <a:noFill/>
          </a:ln>
        </p:spPr>
        <p:txBody>
          <a:bodyPr/>
          <a:lstStyle>
            <a:defPPr>
              <a:defRPr sz="2175" b="1">
                <a:solidFill>
                  <a:srgbClr val="176A8A"/>
                </a:solidFill>
              </a:defRPr>
            </a:defPPr>
            <a:lvl1pPr>
              <a:defRPr sz="2175" b="1">
                <a:solidFill>
                  <a:srgbClr val="176A8A"/>
                </a:solidFill>
              </a:defRPr>
            </a:lvl1pPr>
            <a:lvl2pPr>
              <a:defRPr sz="2175" b="1">
                <a:solidFill>
                  <a:srgbClr val="176A8A"/>
                </a:solidFill>
              </a:defRPr>
            </a:lvl2pPr>
            <a:lvl3pPr>
              <a:defRPr sz="2175" b="1">
                <a:solidFill>
                  <a:srgbClr val="176A8A"/>
                </a:solidFill>
              </a:defRPr>
            </a:lvl3pPr>
            <a:lvl4pPr>
              <a:defRPr sz="2175" b="1">
                <a:solidFill>
                  <a:srgbClr val="176A8A"/>
                </a:solidFill>
              </a:defRPr>
            </a:lvl4pPr>
            <a:lvl5pPr>
              <a:defRPr sz="2175" b="1">
                <a:solidFill>
                  <a:srgbClr val="176A8A"/>
                </a:solidFill>
              </a:defRPr>
            </a:lvl5pPr>
            <a:lvl6pPr>
              <a:defRPr sz="2175" b="1">
                <a:solidFill>
                  <a:srgbClr val="176A8A"/>
                </a:solidFill>
              </a:defRPr>
            </a:lvl6pPr>
            <a:lvl7pPr>
              <a:defRPr sz="2175" b="1">
                <a:solidFill>
                  <a:srgbClr val="176A8A"/>
                </a:solidFill>
              </a:defRPr>
            </a:lvl7pPr>
            <a:lvl8pPr>
              <a:defRPr sz="2175" b="1">
                <a:solidFill>
                  <a:srgbClr val="176A8A"/>
                </a:solidFill>
              </a:defRPr>
            </a:lvl8pPr>
            <a:lvl9pPr>
              <a:defRPr sz="2175" b="1">
                <a:solidFill>
                  <a:srgbClr val="176A8A"/>
                </a:solidFill>
              </a:defRPr>
            </a:lvl9pPr>
          </a:lstStyle>
          <a:p>
            <a:pPr>
              <a:defRPr sz="2175" b="1">
                <a:solidFill>
                  <a:srgbClr val="176A8A"/>
                </a:solidFill>
              </a:defRPr>
            </a:pPr>
            <a:r>
              <a:rPr lang="en-US" sz="2175" b="1">
                <a:solidFill>
                  <a:srgbClr val="176A8A"/>
                </a:solidFill>
              </a:rPr>
              <a:t>3.</a:t>
            </a:r>
            <a:r>
              <a:rPr lang="zh-CN" altLang="en-US" sz="2175" b="1">
                <a:solidFill>
                  <a:srgbClr val="176A8A"/>
                </a:solidFill>
              </a:rPr>
              <a:t>验证额外条件下的逆向生成是否能保持良好的</a:t>
            </a:r>
            <a:r>
              <a:rPr lang="zh-CN" altLang="en-US" sz="2175" b="1">
                <a:solidFill>
                  <a:srgbClr val="176A8A"/>
                </a:solidFill>
              </a:rPr>
              <a:t>效果</a:t>
            </a:r>
            <a:endParaRPr lang="zh-CN" altLang="en-US" sz="2175" b="1">
              <a:solidFill>
                <a:srgbClr val="176A8A"/>
              </a:solidFill>
            </a:endParaRPr>
          </a:p>
        </p:txBody>
      </p:sp>
    </p:spTree>
  </p:cSld>
  <p:clrMapOvr>
    <a:masterClrMapping/>
  </p:clrMapOvr>
</p:sld>
</file>

<file path=ppt/tags/tag1.xml><?xml version="1.0" encoding="utf-8"?>
<p:tagLst xmlns:p="http://schemas.openxmlformats.org/presentationml/2006/main">
  <p:tag name="KSO_WM_DIAGRAM_VIRTUALLY_FRAME" val="{&quot;height&quot;:193.5,&quot;left&quot;:48.75,&quot;top&quot;:127.5,&quot;width&quot;:858.75}"/>
</p:tagLst>
</file>

<file path=ppt/tags/tag2.xml><?xml version="1.0" encoding="utf-8"?>
<p:tagLst xmlns:p="http://schemas.openxmlformats.org/presentationml/2006/main">
  <p:tag name="KSO_WM_DIAGRAM_VIRTUALLY_FRAME" val="{&quot;height&quot;:193.5,&quot;left&quot;:48.75,&quot;top&quot;:127.5,&quot;width&quot;:858.75}"/>
</p:tagLst>
</file>

<file path=ppt/tags/tag3.xml><?xml version="1.0" encoding="utf-8"?>
<p:tagLst xmlns:p="http://schemas.openxmlformats.org/presentationml/2006/main">
  <p:tag name="KSO_WM_DIAGRAM_VIRTUALLY_FRAME" val="{&quot;height&quot;:193.5,&quot;left&quot;:48.75,&quot;top&quot;:127.5,&quot;width&quot;:858.75}"/>
</p:tagLst>
</file>

<file path=ppt/tags/tag4.xml><?xml version="1.0" encoding="utf-8"?>
<p:tagLst xmlns:p="http://schemas.openxmlformats.org/presentationml/2006/main">
  <p:tag name="KSO_WM_DIAGRAM_VIRTUALLY_FRAME" val="{&quot;height&quot;:193.5,&quot;left&quot;:48.75,&quot;top&quot;:127.5,&quot;width&quot;:858.75}"/>
</p:tagLst>
</file>

<file path=ppt/tags/tag5.xml><?xml version="1.0" encoding="utf-8"?>
<p:tagLst xmlns:p="http://schemas.openxmlformats.org/presentationml/2006/main">
  <p:tag name="TABLE_ENDDRAG_ORIGIN_RECT" val="862*425"/>
  <p:tag name="TABLE_ENDDRAG_RECT" val="49*100*862*425"/>
</p:tagLst>
</file>

<file path=ppt/tags/tag6.xml><?xml version="1.0" encoding="utf-8"?>
<p:tagLst xmlns:p="http://schemas.openxmlformats.org/presentationml/2006/main">
  <p:tag name="KSO_WM_DIAGRAM_VIRTUALLY_FRAME" val="{&quot;height&quot;:306,&quot;left&quot;:48.75,&quot;top&quot;:123.75,&quot;width&quot;:858.75}"/>
</p:tagLst>
</file>

<file path=ppt/tags/tag7.xml><?xml version="1.0" encoding="utf-8"?>
<p:tagLst xmlns:p="http://schemas.openxmlformats.org/presentationml/2006/main">
  <p:tag name="KSO_WM_DIAGRAM_VIRTUALLY_FRAME" val="{&quot;height&quot;:306,&quot;left&quot;:48.75,&quot;top&quot;:123.75,&quot;width&quot;:858.75}"/>
</p:tagLst>
</file>

<file path=ppt/tags/tag8.xml><?xml version="1.0" encoding="utf-8"?>
<p:tagLst xmlns:p="http://schemas.openxmlformats.org/presentationml/2006/main">
  <p:tag name="KSO_WM_DIAGRAM_VIRTUALLY_FRAME" val="{&quot;height&quot;:306,&quot;left&quot;:48.75,&quot;top&quot;:123.75,&quot;width&quot;:858.75}"/>
</p:tagLst>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Microsoft YaHei"/>
        <a:ea typeface=""/>
        <a:cs typeface=""/>
      </a:majorFont>
      <a:minorFont>
        <a:latin typeface="Microsoft YaHei"/>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Microsoft YaHei"/>
        <a:ea typeface=""/>
        <a:cs typeface=""/>
      </a:majorFont>
      <a:minorFont>
        <a:latin typeface="Microsoft YaHei"/>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1626</Words>
  <Application>WPS 演示</Application>
  <PresentationFormat>Converted Presentation</PresentationFormat>
  <Paragraphs>283</Paragraphs>
  <Slides>11</Slides>
  <Notes>0</Notes>
  <HiddenSlides>0</HiddenSlides>
  <MMClips>0</MMClips>
  <ScaleCrop>false</ScaleCrop>
  <HeadingPairs>
    <vt:vector size="6" baseType="variant">
      <vt:variant>
        <vt:lpstr>已用的字体</vt:lpstr>
      </vt:variant>
      <vt:variant>
        <vt:i4>5</vt:i4>
      </vt:variant>
      <vt:variant>
        <vt:lpstr>主题</vt:lpstr>
      </vt:variant>
      <vt:variant>
        <vt:i4>1</vt:i4>
      </vt:variant>
      <vt:variant>
        <vt:lpstr>幻灯片标题</vt:lpstr>
      </vt:variant>
      <vt:variant>
        <vt:i4>11</vt:i4>
      </vt:variant>
    </vt:vector>
  </HeadingPairs>
  <TitlesOfParts>
    <vt:vector size="17" baseType="lpstr">
      <vt:lpstr>Arial</vt:lpstr>
      <vt:lpstr>宋体</vt:lpstr>
      <vt:lpstr>Wingdings</vt:lpstr>
      <vt:lpstr>微软雅黑</vt:lpstr>
      <vt:lpstr>Arial Unicode MS</vt:lpstr>
      <vt:lpstr>ChatGPT</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相召晗</cp:lastModifiedBy>
  <cp:revision>10</cp:revision>
  <dcterms:created xsi:type="dcterms:W3CDTF">2026-10-22T12:56:00Z</dcterms:created>
  <dcterms:modified xsi:type="dcterms:W3CDTF">2026-10-23T06:59:06Z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0558053192C144F58A91A443F8A44164_13</vt:lpwstr>
  </property>
  <property fmtid="{D5CDD505-2E9C-101B-9397-08002B2CF9AE}" pid="3" name="KSOProductBuildVer">
    <vt:lpwstr>2052-12.1.0.29161</vt:lpwstr>
  </property>
</Properties>
</file>